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00000"/>
            <a:ext cx="1106424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Typed Pruning Hypergraph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60000"/>
            <a:ext cx="1106424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9BBEDF"/>
                </a:solidFill>
                <a:latin typeface="Calibri"/>
              </a:rPr>
              <a:t>Deciding what to prune by structure, importance, and coupling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2926080" y="2330000"/>
            <a:ext cx="6309360" cy="3048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46000" y="2520000"/>
            <a:ext cx="3300000" cy="76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6000" y="2610000"/>
            <a:ext cx="314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The model</a:t>
            </a:r>
          </a:p>
          <a:p>
            <a:pPr algn="ctr">
              <a:spcBef>
                <a:spcPts val="400"/>
              </a:spcBef>
            </a:pPr>
            <a:r>
              <a:rPr sz="1300" b="0" i="0">
                <a:solidFill>
                  <a:srgbClr val="9BBEDF"/>
                </a:solidFill>
                <a:latin typeface="Calibri"/>
              </a:rPr>
              <a:t>A pretrained Vision</a:t>
            </a:r>
          </a:p>
          <a:p>
            <a:pPr algn="ctr">
              <a:spcBef>
                <a:spcPts val="100"/>
              </a:spcBef>
            </a:pPr>
            <a:r>
              <a:rPr sz="1300" b="0" i="0">
                <a:solidFill>
                  <a:srgbClr val="9BBEDF"/>
                </a:solidFill>
                <a:latin typeface="Calibri"/>
              </a:rPr>
              <a:t>Transformer (DeiT-Small)</a:t>
            </a:r>
          </a:p>
        </p:txBody>
      </p:sp>
      <p:sp>
        <p:nvSpPr>
          <p:cNvPr id="8" name="Rectangle 7"/>
          <p:cNvSpPr/>
          <p:nvPr/>
        </p:nvSpPr>
        <p:spPr>
          <a:xfrm>
            <a:off x="4446000" y="2520000"/>
            <a:ext cx="3300000" cy="76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000" y="2610000"/>
            <a:ext cx="314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The task</a:t>
            </a:r>
          </a:p>
          <a:p>
            <a:pPr algn="ctr">
              <a:spcBef>
                <a:spcPts val="400"/>
              </a:spcBef>
            </a:pPr>
            <a:r>
              <a:rPr sz="1300" b="0" i="0">
                <a:solidFill>
                  <a:srgbClr val="9BBEDF"/>
                </a:solidFill>
                <a:latin typeface="Calibri"/>
              </a:rPr>
              <a:t>Cut its compute by ~45%</a:t>
            </a:r>
          </a:p>
          <a:p>
            <a:pPr algn="ctr">
              <a:spcBef>
                <a:spcPts val="100"/>
              </a:spcBef>
            </a:pPr>
            <a:r>
              <a:rPr sz="1300" b="0" i="0">
                <a:solidFill>
                  <a:srgbClr val="9BBEDF"/>
                </a:solidFill>
                <a:latin typeface="Calibri"/>
              </a:rPr>
              <a:t>with minimal accuracy loss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46000" y="2520000"/>
            <a:ext cx="3300000" cy="76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26000" y="2610000"/>
            <a:ext cx="314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The question</a:t>
            </a:r>
          </a:p>
          <a:p>
            <a:pPr algn="ctr">
              <a:spcBef>
                <a:spcPts val="400"/>
              </a:spcBef>
            </a:pPr>
            <a:r>
              <a:rPr sz="1300" b="0" i="0">
                <a:solidFill>
                  <a:srgbClr val="9BBEDF"/>
                </a:solidFill>
                <a:latin typeface="Calibri"/>
              </a:rPr>
              <a:t>WHICH parts to remove,</a:t>
            </a:r>
          </a:p>
          <a:p>
            <a:pPr algn="ctr">
              <a:spcBef>
                <a:spcPts val="100"/>
              </a:spcBef>
            </a:pPr>
            <a:r>
              <a:rPr sz="1300" b="0" i="0">
                <a:solidFill>
                  <a:srgbClr val="9BBEDF"/>
                </a:solidFill>
                <a:latin typeface="Calibri"/>
              </a:rPr>
              <a:t>and by HOW MUCH?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560000"/>
            <a:ext cx="1106424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CDDEE"/>
                </a:solidFill>
                <a:latin typeface="Calibri"/>
              </a:rPr>
              <a:t>Shahrzad Esmat   ·   Iowa State University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960000"/>
            <a:ext cx="1106424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FFA300"/>
                </a:solidFill>
                <a:latin typeface="Calibri"/>
              </a:rPr>
              <a:t>We generalize Isomorphic Pruning (Fang et al.) with a typed dependency graph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Background: How Do We Decide What to Prune?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(a) Network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7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825760" y="156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5760" y="218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5760" y="280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5760" y="342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0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(b) Local Pruning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65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3805760" y="156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95760" y="156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5545760" y="1600000"/>
            <a:ext cx="0" cy="390000"/>
          </a:xfrm>
          <a:prstGeom prst="bentConnector3">
            <a:avLst/>
          </a:prstGeom>
          <a:ln w="15875">
            <a:solidFill>
              <a:srgbClr val="0068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3805760" y="218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95760" y="2180000"/>
            <a:ext cx="510000" cy="470000"/>
          </a:xfrm>
          <a:prstGeom prst="rect">
            <a:avLst/>
          </a:prstGeom>
          <a:solidFill>
            <a:srgbClr val="C0504D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5545760" y="2220000"/>
            <a:ext cx="0" cy="390000"/>
          </a:xfrm>
          <a:prstGeom prst="bentConnector3">
            <a:avLst/>
          </a:prstGeom>
          <a:ln w="15875">
            <a:solidFill>
              <a:srgbClr val="C0504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805760" y="280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95760" y="2800000"/>
            <a:ext cx="510000" cy="470000"/>
          </a:xfrm>
          <a:prstGeom prst="rect">
            <a:avLst/>
          </a:prstGeom>
          <a:solidFill>
            <a:srgbClr val="70AD4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5545760" y="2840000"/>
            <a:ext cx="0" cy="390000"/>
          </a:xfrm>
          <a:prstGeom prst="bentConnector3">
            <a:avLst/>
          </a:prstGeom>
          <a:ln w="15875">
            <a:solidFill>
              <a:srgbClr val="70AD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3805760" y="342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995760" y="3420000"/>
            <a:ext cx="510000" cy="47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5545760" y="3460000"/>
            <a:ext cx="0" cy="390000"/>
          </a:xfrm>
          <a:prstGeom prst="bentConnector3">
            <a:avLst/>
          </a:prstGeom>
          <a:ln w="15875">
            <a:solidFill>
              <a:srgbClr val="FFA3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405760" y="3930000"/>
            <a:ext cx="25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25252"/>
                </a:solidFill>
                <a:latin typeface="Calibri"/>
              </a:rPr>
              <a:t>rank within each layer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(c) Global Pruning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63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785760" y="156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75760" y="156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785760" y="218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975760" y="218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785760" y="280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975760" y="280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785760" y="342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975760" y="342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8545760" y="1560000"/>
            <a:ext cx="0" cy="2330000"/>
          </a:xfrm>
          <a:prstGeom prst="bentConnector3">
            <a:avLst/>
          </a:prstGeom>
          <a:ln w="19050">
            <a:solidFill>
              <a:srgbClr val="0068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385760" y="3930000"/>
            <a:ext cx="25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0068B5"/>
                </a:solidFill>
                <a:latin typeface="Calibri"/>
              </a:rPr>
              <a:t>one global ranking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6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(d) Isomorphic (grouped)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61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9765760" y="156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955760" y="156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765760" y="218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955760" y="2180000"/>
            <a:ext cx="510000" cy="470000"/>
          </a:xfrm>
          <a:prstGeom prst="rect">
            <a:avLst/>
          </a:prstGeom>
          <a:solidFill>
            <a:srgbClr val="C0504D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765760" y="280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955760" y="2800000"/>
            <a:ext cx="510000" cy="470000"/>
          </a:xfrm>
          <a:prstGeom prst="rect">
            <a:avLst/>
          </a:prstGeom>
          <a:solidFill>
            <a:srgbClr val="C0504D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765760" y="342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955760" y="342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365760" y="3930000"/>
            <a:ext cx="25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1A1A1A"/>
                </a:solidFill>
                <a:latin typeface="Calibri"/>
              </a:rPr>
              <a:t>group by structure type,</a:t>
            </a:r>
          </a:p>
          <a:p>
            <a:pPr algn="ctr">
              <a:spcBef>
                <a:spcPts val="100"/>
              </a:spcBef>
            </a:pPr>
            <a:r>
              <a:rPr sz="1100" b="0" i="1">
                <a:solidFill>
                  <a:srgbClr val="FFA300"/>
                </a:solidFill>
                <a:latin typeface="Calibri"/>
              </a:rPr>
              <a:t>rank within each group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" y="6098000"/>
            <a:ext cx="1143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25252"/>
                </a:solidFill>
                <a:latin typeface="Calibri"/>
              </a:rPr>
              <a:t>Comparing importance across different structure types is unfair (different scales). Isomorphic pruning groups parameters by structural type and ranks WITHIN each group.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Our Method in the Same View: Extending Isomorphic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(a) Pretrained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7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825760" y="1560000"/>
            <a:ext cx="1700000" cy="46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5760" y="1660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B0</a:t>
            </a:r>
          </a:p>
        </p:txBody>
      </p:sp>
      <p:sp>
        <p:nvSpPr>
          <p:cNvPr id="9" name="Rectangle 8"/>
          <p:cNvSpPr/>
          <p:nvPr/>
        </p:nvSpPr>
        <p:spPr>
          <a:xfrm>
            <a:off x="825760" y="2185000"/>
            <a:ext cx="1700000" cy="46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5760" y="2285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5760" y="2810000"/>
            <a:ext cx="1700000" cy="46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5760" y="2910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5760" y="3435000"/>
            <a:ext cx="1700000" cy="46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5760" y="3535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760" y="3955000"/>
            <a:ext cx="25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25252"/>
                </a:solidFill>
                <a:latin typeface="Calibri"/>
              </a:rPr>
              <a:t>all blocks kept,</a:t>
            </a:r>
          </a:p>
          <a:p>
            <a:pPr algn="ctr">
              <a:spcBef>
                <a:spcPts val="100"/>
              </a:spcBef>
            </a:pPr>
            <a:r>
              <a:rPr sz="1100" b="0" i="1">
                <a:solidFill>
                  <a:srgbClr val="525252"/>
                </a:solidFill>
                <a:latin typeface="Calibri"/>
              </a:rPr>
              <a:t>one uniform ratio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0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(b) + S_min  (depth)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65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805760" y="1560000"/>
            <a:ext cx="1700000" cy="46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95760" y="1560000"/>
            <a:ext cx="510000" cy="46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45760" y="1660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05760" y="2185000"/>
            <a:ext cx="1700000" cy="46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95760" y="2185000"/>
            <a:ext cx="510000" cy="46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5760" y="2285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05760" y="2810000"/>
            <a:ext cx="1700000" cy="460000"/>
          </a:xfrm>
          <a:prstGeom prst="rect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05760" y="2900000"/>
            <a:ext cx="17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0504D"/>
                </a:solidFill>
                <a:latin typeface="Calibri"/>
              </a:rPr>
              <a:t>✕  removed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805760" y="3435000"/>
            <a:ext cx="1700000" cy="46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995760" y="3435000"/>
            <a:ext cx="510000" cy="46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45760" y="3535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05760" y="3955000"/>
            <a:ext cx="25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25252"/>
                </a:solidFill>
                <a:latin typeface="Calibri"/>
              </a:rPr>
              <a:t>B2 removed entirely</a:t>
            </a:r>
          </a:p>
          <a:p>
            <a:pPr algn="ctr">
              <a:spcBef>
                <a:spcPts val="100"/>
              </a:spcBef>
            </a:pPr>
            <a:r>
              <a:rPr sz="1100" b="0" i="1">
                <a:solidFill>
                  <a:srgbClr val="525252"/>
                </a:solidFill>
                <a:latin typeface="Calibri"/>
              </a:rPr>
              <a:t>(S &lt; S_min)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8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(c) + θ  (groups)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63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6785760" y="1560000"/>
            <a:ext cx="1700000" cy="460000"/>
          </a:xfrm>
          <a:prstGeom prst="rect">
            <a:avLst/>
          </a:prstGeom>
          <a:solidFill>
            <a:srgbClr val="E2EFDA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79760" y="1560000"/>
            <a:ext cx="306000" cy="460000"/>
          </a:xfrm>
          <a:prstGeom prst="rect">
            <a:avLst/>
          </a:prstGeom>
          <a:solidFill>
            <a:srgbClr val="70AD4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5760" y="1660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25760" y="1660000"/>
            <a:ext cx="52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70AD47"/>
                </a:solidFill>
                <a:latin typeface="Calibri"/>
              </a:rPr>
              <a:t>r 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785760" y="2185000"/>
            <a:ext cx="1700000" cy="460000"/>
          </a:xfrm>
          <a:prstGeom prst="rect">
            <a:avLst/>
          </a:prstGeom>
          <a:solidFill>
            <a:srgbClr val="E2EFDA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179760" y="2185000"/>
            <a:ext cx="306000" cy="460000"/>
          </a:xfrm>
          <a:prstGeom prst="rect">
            <a:avLst/>
          </a:prstGeom>
          <a:solidFill>
            <a:srgbClr val="70AD4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25760" y="2285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25760" y="2285000"/>
            <a:ext cx="52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70AD47"/>
                </a:solidFill>
                <a:latin typeface="Calibri"/>
              </a:rPr>
              <a:t>r ↓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785760" y="2810000"/>
            <a:ext cx="1700000" cy="460000"/>
          </a:xfrm>
          <a:prstGeom prst="rect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785760" y="2900000"/>
            <a:ext cx="17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0504D"/>
                </a:solidFill>
                <a:latin typeface="Calibri"/>
              </a:rPr>
              <a:t>✕  removed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785760" y="3435000"/>
            <a:ext cx="1700000" cy="460000"/>
          </a:xfrm>
          <a:prstGeom prst="rect">
            <a:avLst/>
          </a:prstGeom>
          <a:solidFill>
            <a:srgbClr val="FCE4D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669760" y="3435000"/>
            <a:ext cx="816000" cy="460000"/>
          </a:xfrm>
          <a:prstGeom prst="rect">
            <a:avLst/>
          </a:prstGeom>
          <a:solidFill>
            <a:srgbClr val="C0504D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25760" y="3535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25760" y="3535000"/>
            <a:ext cx="52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C0504D"/>
                </a:solidFill>
                <a:latin typeface="Calibri"/>
              </a:rPr>
              <a:t>r ↑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85760" y="3955000"/>
            <a:ext cx="25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25252"/>
                </a:solidFill>
                <a:latin typeface="Calibri"/>
              </a:rPr>
              <a:t>groups → own ratio</a:t>
            </a:r>
          </a:p>
          <a:p>
            <a:pPr algn="ctr">
              <a:spcBef>
                <a:spcPts val="100"/>
              </a:spcBef>
            </a:pPr>
            <a:r>
              <a:rPr sz="1100" b="0" i="1">
                <a:solidFill>
                  <a:srgbClr val="525252"/>
                </a:solidFill>
                <a:latin typeface="Calibri"/>
              </a:rPr>
              <a:t>green r↓ , red r↑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6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(d) + α  (coupling)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1061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9765760" y="1560000"/>
            <a:ext cx="1700000" cy="460000"/>
          </a:xfrm>
          <a:prstGeom prst="rect">
            <a:avLst/>
          </a:prstGeom>
          <a:solidFill>
            <a:srgbClr val="E2EFDA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1159760" y="1560000"/>
            <a:ext cx="306000" cy="460000"/>
          </a:xfrm>
          <a:prstGeom prst="rect">
            <a:avLst/>
          </a:prstGeom>
          <a:solidFill>
            <a:srgbClr val="70AD4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805760" y="1660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905760" y="1660000"/>
            <a:ext cx="52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70AD47"/>
                </a:solidFill>
                <a:latin typeface="Calibri"/>
              </a:rPr>
              <a:t>r ↓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765760" y="2185000"/>
            <a:ext cx="1700000" cy="460000"/>
          </a:xfrm>
          <a:prstGeom prst="rect">
            <a:avLst/>
          </a:prstGeom>
          <a:solidFill>
            <a:srgbClr val="E2EFDA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1159760" y="2185000"/>
            <a:ext cx="306000" cy="460000"/>
          </a:xfrm>
          <a:prstGeom prst="rect">
            <a:avLst/>
          </a:prstGeom>
          <a:solidFill>
            <a:srgbClr val="70AD4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805760" y="2285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05760" y="2285000"/>
            <a:ext cx="52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70AD47"/>
                </a:solidFill>
                <a:latin typeface="Calibri"/>
              </a:rPr>
              <a:t>r ↓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765760" y="2810000"/>
            <a:ext cx="1700000" cy="460000"/>
          </a:xfrm>
          <a:prstGeom prst="rect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765760" y="2900000"/>
            <a:ext cx="17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0504D"/>
                </a:solidFill>
                <a:latin typeface="Calibri"/>
              </a:rPr>
              <a:t>✕  removed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65760" y="3435000"/>
            <a:ext cx="1700000" cy="460000"/>
          </a:xfrm>
          <a:prstGeom prst="rect">
            <a:avLst/>
          </a:prstGeom>
          <a:solidFill>
            <a:srgbClr val="FCE4D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0649760" y="3435000"/>
            <a:ext cx="816000" cy="460000"/>
          </a:xfrm>
          <a:prstGeom prst="rect">
            <a:avLst/>
          </a:prstGeom>
          <a:solidFill>
            <a:srgbClr val="C0504D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805760" y="3535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905760" y="3535000"/>
            <a:ext cx="52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C0504D"/>
                </a:solidFill>
                <a:latin typeface="Calibri"/>
              </a:rPr>
              <a:t>r ↑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11465760" y="1790000"/>
            <a:ext cx="120000" cy="0"/>
          </a:xfrm>
          <a:prstGeom prst="bentConnector3">
            <a:avLst/>
          </a:prstGeom>
          <a:ln w="1778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1585760" y="1790000"/>
            <a:ext cx="0" cy="625000"/>
          </a:xfrm>
          <a:prstGeom prst="bentConnector3">
            <a:avLst/>
          </a:prstGeom>
          <a:ln w="1778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H="1">
            <a:off x="11465760" y="2415000"/>
            <a:ext cx="120000" cy="0"/>
          </a:xfrm>
          <a:prstGeom prst="bentConnector3">
            <a:avLst/>
          </a:prstGeom>
          <a:ln w="1778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11615760" y="1992500"/>
            <a:ext cx="52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FFA300"/>
                </a:solidFill>
                <a:latin typeface="Calibri"/>
              </a:rPr>
              <a:t>w_ij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365760" y="3955000"/>
            <a:ext cx="25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25252"/>
                </a:solidFill>
                <a:latin typeface="Calibri"/>
              </a:rPr>
              <a:t>couple same group</a:t>
            </a:r>
          </a:p>
          <a:p>
            <a:pPr algn="ctr">
              <a:spcBef>
                <a:spcPts val="100"/>
              </a:spcBef>
            </a:pPr>
            <a:r>
              <a:rPr sz="1100" b="0" i="1">
                <a:solidFill>
                  <a:srgbClr val="525252"/>
                </a:solidFill>
                <a:latin typeface="Calibri"/>
              </a:rPr>
              <a:t>B0–B1  (edge E_f)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5760" y="6218000"/>
            <a:ext cx="1143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25252"/>
                </a:solidFill>
                <a:latin typeface="Calibri"/>
              </a:rPr>
              <a:t>Same column view as the field's — but each step here is OUR addition. Turn all three off (no removal, one group, no edges) → back to isomorphic pruning.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Isomorphic Pruning: One Ratio Per Structure Type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3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980000"/>
            <a:ext cx="5300000" cy="5649400"/>
          </a:xfrm>
          <a:prstGeom prst="rect">
            <a:avLst/>
          </a:prstGeom>
          <a:solidFill>
            <a:srgbClr val="F5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980000"/>
            <a:ext cx="76200" cy="56494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7200" y="1060000"/>
            <a:ext cx="4800000" cy="548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68B5"/>
                </a:solidFill>
                <a:latin typeface="Calibri"/>
              </a:rPr>
              <a:t>The baseline we build on</a:t>
            </a:r>
          </a:p>
          <a:p>
            <a:pPr algn="l">
              <a:spcBef>
                <a:spcPts val="400"/>
              </a:spcBef>
            </a:pPr>
            <a:r>
              <a:rPr sz="6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400" b="1" i="0">
                <a:solidFill>
                  <a:srgbClr val="1A1A1A"/>
                </a:solidFill>
                <a:latin typeface="Calibri"/>
              </a:rPr>
              <a:t>Two structure types, each pruned by ONE ratio:</a:t>
            </a:r>
          </a:p>
          <a:p>
            <a:pPr algn="l">
              <a:spcBef>
                <a:spcPts val="3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  • Attention — shrink head_dim inside each head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  • MLP — shrink the hidden dimension</a:t>
            </a:r>
          </a:p>
          <a:p>
            <a:pPr algn="l">
              <a:spcBef>
                <a:spcPts val="400"/>
              </a:spcBef>
            </a:pPr>
            <a:r>
              <a:rPr sz="5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400" b="1" i="0">
                <a:solidFill>
                  <a:srgbClr val="1A1A1A"/>
                </a:solidFill>
                <a:latin typeface="Calibri"/>
              </a:rPr>
              <a:t>Every one of the 12 blocks gets the SAME ratio.</a:t>
            </a:r>
          </a:p>
          <a:p>
            <a:pPr algn="l">
              <a:spcBef>
                <a:spcPts val="400"/>
              </a:spcBef>
            </a:pPr>
            <a:r>
              <a:rPr sz="4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The residual stream (embed dim) is never cut —</a:t>
            </a:r>
          </a:p>
          <a:p>
            <a:pPr algn="l">
              <a:spcBef>
                <a:spcPts val="1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only the internals of each block shrink.</a:t>
            </a:r>
          </a:p>
          <a:p>
            <a:pPr algn="l">
              <a:spcBef>
                <a:spcPts val="400"/>
              </a:spcBef>
            </a:pPr>
            <a:r>
              <a:rPr sz="6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300" b="0" i="1">
                <a:solidFill>
                  <a:srgbClr val="1A1A1A"/>
                </a:solidFill>
                <a:latin typeface="Calibri"/>
              </a:rPr>
              <a:t>Simple and effective — but it treats a critical</a:t>
            </a:r>
          </a:p>
          <a:p>
            <a:pPr algn="l">
              <a:spcBef>
                <a:spcPts val="100"/>
              </a:spcBef>
            </a:pPr>
            <a:r>
              <a:rPr sz="1300" b="0" i="1">
                <a:solidFill>
                  <a:srgbClr val="1A1A1A"/>
                </a:solidFill>
                <a:latin typeface="Calibri"/>
              </a:rPr>
              <a:t>block exactly like a redundant 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00000" y="1060000"/>
            <a:ext cx="56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All 12 blocks — identical treatment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100000" y="138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52400" y="138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72000" y="138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911600" y="138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60000" y="143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0  ·  Attn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2000" y="143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00000" y="179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452400" y="179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72000" y="179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911600" y="179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60000" y="184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1  ·  Attn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2000" y="184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00000" y="220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52400" y="220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72000" y="220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911600" y="220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60000" y="225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2  ·  Attn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2000" y="225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00000" y="261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452400" y="261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72000" y="261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911600" y="261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60000" y="266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3  ·  Attn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2000" y="266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00000" y="302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52400" y="302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72000" y="302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911600" y="302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60000" y="307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4  ·  Attn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32000" y="307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00000" y="343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452400" y="343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72000" y="343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911600" y="343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60000" y="348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5  ·  Attn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32000" y="348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00000" y="384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452400" y="384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072000" y="384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911600" y="384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60000" y="389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6  ·  Attn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32000" y="389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00000" y="425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400" y="425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072000" y="425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911600" y="425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60000" y="430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7  ·  Attn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132000" y="430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00000" y="466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452400" y="466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072000" y="466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911600" y="466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160000" y="471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8  ·  Attn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132000" y="471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100000" y="507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452400" y="507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072000" y="507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911600" y="507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160000" y="512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9  ·  Attn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132000" y="512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100000" y="548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400" y="548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072000" y="548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9911600" y="548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160000" y="553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10  ·  Attn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132000" y="553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100000" y="589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452400" y="589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072000" y="589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9911600" y="589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160000" y="594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11  ·  Attn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132000" y="594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100000" y="6320000"/>
            <a:ext cx="56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25252"/>
                </a:solidFill>
                <a:latin typeface="Calibri"/>
              </a:rPr>
              <a:t>blue / orange = pruned portion — same fraction in every block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Our Pruning: Depth + Per-Group Width + Coupling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4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980000"/>
            <a:ext cx="5300000" cy="5649400"/>
          </a:xfrm>
          <a:prstGeom prst="rect">
            <a:avLst/>
          </a:prstGeom>
          <a:solidFill>
            <a:srgbClr val="F5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980000"/>
            <a:ext cx="76200" cy="56494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7200" y="1060000"/>
            <a:ext cx="4800000" cy="548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A300"/>
                </a:solidFill>
                <a:latin typeface="Calibri"/>
              </a:rPr>
              <a:t>Heterogeneous by design</a:t>
            </a:r>
          </a:p>
          <a:p>
            <a:pPr algn="l">
              <a:spcBef>
                <a:spcPts val="400"/>
              </a:spcBef>
            </a:pPr>
            <a:r>
              <a:rPr sz="6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1A1A1A"/>
                </a:solidFill>
                <a:latin typeface="Calibri"/>
              </a:rPr>
              <a:t>Same two structure types (Attn, MLP), but the</a:t>
            </a:r>
          </a:p>
          <a:p>
            <a:pPr algn="l">
              <a:spcBef>
                <a:spcPts val="100"/>
              </a:spcBef>
            </a:pPr>
            <a:r>
              <a:rPr sz="1300" b="0" i="0">
                <a:solidFill>
                  <a:srgbClr val="1A1A1A"/>
                </a:solidFill>
                <a:latin typeface="Calibri"/>
              </a:rPr>
              <a:t>ratio now varies block-to-block:</a:t>
            </a:r>
          </a:p>
          <a:p>
            <a:pPr algn="l">
              <a:spcBef>
                <a:spcPts val="400"/>
              </a:spcBef>
            </a:pPr>
            <a:r>
              <a:rPr sz="4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300"/>
              </a:spcBef>
            </a:pPr>
            <a:r>
              <a:rPr sz="1300" b="1" i="0">
                <a:solidFill>
                  <a:srgbClr val="C0504D"/>
                </a:solidFill>
                <a:latin typeface="Calibri"/>
              </a:rPr>
              <a:t>• S_min — remove low-sensitivity blocks</a:t>
            </a:r>
          </a:p>
          <a:p>
            <a:pPr algn="l">
              <a:spcBef>
                <a:spcPts val="100"/>
              </a:spcBef>
            </a:pPr>
            <a:r>
              <a:rPr sz="1200" b="0" i="0">
                <a:solidFill>
                  <a:srgbClr val="525252"/>
                </a:solidFill>
                <a:latin typeface="Calibri"/>
              </a:rPr>
              <a:t>    (here blocks 3, 4, 5 are deleted)</a:t>
            </a:r>
          </a:p>
          <a:p>
            <a:pPr algn="l">
              <a:spcBef>
                <a:spcPts val="300"/>
              </a:spcBef>
            </a:pPr>
            <a:r>
              <a:rPr sz="1300" b="1" i="0">
                <a:solidFill>
                  <a:srgbClr val="70AD47"/>
                </a:solidFill>
                <a:latin typeface="Calibri"/>
              </a:rPr>
              <a:t>• θ — each importance group its own ratio</a:t>
            </a:r>
          </a:p>
          <a:p>
            <a:pPr algn="l">
              <a:spcBef>
                <a:spcPts val="100"/>
              </a:spcBef>
            </a:pPr>
            <a:r>
              <a:rPr sz="1200" b="0" i="0">
                <a:solidFill>
                  <a:srgbClr val="525252"/>
                </a:solidFill>
                <a:latin typeface="Calibri"/>
              </a:rPr>
              <a:t>    green = important → pruned less (thin slice)</a:t>
            </a:r>
          </a:p>
          <a:p>
            <a:pPr algn="l">
              <a:spcBef>
                <a:spcPts val="100"/>
              </a:spcBef>
            </a:pPr>
            <a:r>
              <a:rPr sz="1200" b="0" i="0">
                <a:solidFill>
                  <a:srgbClr val="525252"/>
                </a:solidFill>
                <a:latin typeface="Calibri"/>
              </a:rPr>
              <a:t>    red = redundant → pruned more (thick slice)</a:t>
            </a:r>
          </a:p>
          <a:p>
            <a:pPr algn="l">
              <a:spcBef>
                <a:spcPts val="300"/>
              </a:spcBef>
            </a:pPr>
            <a:r>
              <a:rPr sz="1300" b="1" i="0">
                <a:solidFill>
                  <a:srgbClr val="FFA300"/>
                </a:solidFill>
                <a:latin typeface="Calibri"/>
              </a:rPr>
              <a:t>• α — functional edges couple similar blocks</a:t>
            </a:r>
          </a:p>
          <a:p>
            <a:pPr algn="l">
              <a:spcBef>
                <a:spcPts val="400"/>
              </a:spcBef>
            </a:pPr>
            <a:r>
              <a:rPr sz="5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300"/>
              </a:spcBef>
            </a:pPr>
            <a:r>
              <a:rPr sz="1300" b="0" i="1">
                <a:solidFill>
                  <a:srgbClr val="1A1A1A"/>
                </a:solidFill>
                <a:latin typeface="Calibri"/>
              </a:rPr>
              <a:t>Residual stream (embed dim) still never cut —</a:t>
            </a:r>
          </a:p>
          <a:p>
            <a:pPr algn="l">
              <a:spcBef>
                <a:spcPts val="100"/>
              </a:spcBef>
            </a:pPr>
            <a:r>
              <a:rPr sz="1300" b="0" i="1">
                <a:solidFill>
                  <a:srgbClr val="1A1A1A"/>
                </a:solidFill>
                <a:latin typeface="Calibri"/>
              </a:rPr>
              <a:t>only block internals shrink, just like isomorphic.</a:t>
            </a:r>
          </a:p>
          <a:p>
            <a:pPr algn="l">
              <a:spcBef>
                <a:spcPts val="400"/>
              </a:spcBef>
            </a:pPr>
            <a:r>
              <a:rPr sz="5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400" b="1" i="0">
                <a:solidFill>
                  <a:srgbClr val="FFA300"/>
                </a:solidFill>
                <a:latin typeface="Calibri"/>
              </a:rPr>
              <a:t>Same MAC budget — spent where it costs least.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00000" y="1060000"/>
            <a:ext cx="56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All 12 blocks — treated by importance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6010000" y="1350000"/>
            <a:ext cx="60000" cy="30000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00000" y="1350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70800" y="1350000"/>
            <a:ext cx="2142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25000" y="1350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913500" y="1350000"/>
            <a:ext cx="43650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50000" y="1390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0 · Attn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75000" y="1390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10000" y="1706000"/>
            <a:ext cx="60000" cy="30000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00000" y="1706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70800" y="1706000"/>
            <a:ext cx="2142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25000" y="1706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913500" y="1706000"/>
            <a:ext cx="43650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50000" y="1746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1 · Attn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75000" y="1746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10000" y="2062000"/>
            <a:ext cx="60000" cy="30000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00000" y="2062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670800" y="2062000"/>
            <a:ext cx="2142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25000" y="2062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913500" y="2062000"/>
            <a:ext cx="43650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50000" y="2102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2 · Attn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75000" y="2102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00000" y="2418000"/>
            <a:ext cx="4250000" cy="300000"/>
          </a:xfrm>
          <a:prstGeom prst="rect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0000" y="2448000"/>
            <a:ext cx="425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0504D"/>
                </a:solidFill>
                <a:latin typeface="Calibri"/>
              </a:rPr>
              <a:t>Block 3   ✕ removed  (S &lt; S_min)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0000" y="2774000"/>
            <a:ext cx="4250000" cy="300000"/>
          </a:xfrm>
          <a:prstGeom prst="rect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0000" y="2804000"/>
            <a:ext cx="425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0504D"/>
                </a:solidFill>
                <a:latin typeface="Calibri"/>
              </a:rPr>
              <a:t>Block 4   ✕ removed  (S &lt; S_min)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00000" y="3130000"/>
            <a:ext cx="4250000" cy="300000"/>
          </a:xfrm>
          <a:prstGeom prst="rect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00000" y="3160000"/>
            <a:ext cx="425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0504D"/>
                </a:solidFill>
                <a:latin typeface="Calibri"/>
              </a:rPr>
              <a:t>Block 5   ✕ removed  (S &lt; S_min)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10000" y="3486000"/>
            <a:ext cx="60000" cy="30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100000" y="3486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349500" y="3486000"/>
            <a:ext cx="5355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925000" y="3486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016250" y="3486000"/>
            <a:ext cx="133375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50000" y="3526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6 · Attn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75000" y="3526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10000" y="3842000"/>
            <a:ext cx="60000" cy="30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00000" y="3842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349500" y="3842000"/>
            <a:ext cx="5355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925000" y="3842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016250" y="3842000"/>
            <a:ext cx="133375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50000" y="3882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7 · Attn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975000" y="3882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010000" y="4198000"/>
            <a:ext cx="60000" cy="30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00000" y="4198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349500" y="4198000"/>
            <a:ext cx="5355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925000" y="4198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016250" y="4198000"/>
            <a:ext cx="133375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50000" y="4238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8 · Attn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75000" y="4238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010000" y="4554000"/>
            <a:ext cx="60000" cy="30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100000" y="4554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349500" y="4554000"/>
            <a:ext cx="5355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925000" y="4554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9016250" y="4554000"/>
            <a:ext cx="133375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150000" y="4594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9 · Attn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975000" y="4594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010000" y="4910000"/>
            <a:ext cx="60000" cy="30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100000" y="4910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349500" y="4910000"/>
            <a:ext cx="5355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925000" y="4910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9016250" y="4910000"/>
            <a:ext cx="133375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150000" y="4950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10 · Attn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975000" y="4950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010000" y="5266000"/>
            <a:ext cx="60000" cy="30000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100000" y="5266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70800" y="5266000"/>
            <a:ext cx="2142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925000" y="5266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913500" y="5266000"/>
            <a:ext cx="43650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150000" y="5306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11 · Attn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975000" y="5306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10350000" y="1500000"/>
            <a:ext cx="130000" cy="0"/>
          </a:xfrm>
          <a:prstGeom prst="bentConnector3">
            <a:avLst/>
          </a:prstGeom>
          <a:ln w="1778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10480000" y="1500000"/>
            <a:ext cx="0" cy="356000"/>
          </a:xfrm>
          <a:prstGeom prst="bentConnector3">
            <a:avLst/>
          </a:prstGeom>
          <a:ln w="1778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H="1">
            <a:off x="10350000" y="1856000"/>
            <a:ext cx="130000" cy="0"/>
          </a:xfrm>
          <a:prstGeom prst="bentConnector3">
            <a:avLst/>
          </a:prstGeom>
          <a:ln w="1778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10510000" y="1568000"/>
            <a:ext cx="52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FFA300"/>
                </a:solidFill>
                <a:latin typeface="Calibri"/>
              </a:rPr>
              <a:t>w_ij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100000" y="5642000"/>
            <a:ext cx="58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25252"/>
                </a:solidFill>
                <a:latin typeface="Calibri"/>
              </a:rPr>
              <a:t>thin slice = pruned less (green) · thick slice = pruned more (red) · grey = removed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What Uniform Pruning Misses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80000"/>
            <a:ext cx="1143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Calibri"/>
              </a:rPr>
              <a:t>One ratio for every block cannot express three real differences between blocks: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60000"/>
            <a:ext cx="11430000" cy="1430000"/>
          </a:xfrm>
          <a:prstGeom prst="rect">
            <a:avLst/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360000"/>
            <a:ext cx="150000" cy="143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65760" y="1735000"/>
            <a:ext cx="680000" cy="680000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5760" y="1795000"/>
            <a:ext cx="68000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5760" y="1470000"/>
            <a:ext cx="7580000" cy="1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0504D"/>
                </a:solidFill>
                <a:latin typeface="Calibri"/>
              </a:rPr>
              <a:t>Some blocks are nearly dead weight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Block sensitivity (output change when a block is bypassed) varies widely —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a few blocks are close to identity, yet uniform pruning still keeps and shrinks them,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spending MAC budget on blocks that contribute almost nothing.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45760" y="2490000"/>
            <a:ext cx="300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0504D"/>
                </a:solidFill>
                <a:latin typeface="Calibri"/>
              </a:rPr>
              <a:t>isomorphic: depth ignored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25760" y="1510000"/>
            <a:ext cx="2550000" cy="113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C05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45760" y="1590000"/>
            <a:ext cx="2310000" cy="10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25252"/>
                </a:solidFill>
                <a:latin typeface="Calibri"/>
              </a:rPr>
              <a:t>our fix</a:t>
            </a:r>
          </a:p>
          <a:p>
            <a:pPr algn="l">
              <a:spcBef>
                <a:spcPts val="400"/>
              </a:spcBef>
            </a:pPr>
            <a:r>
              <a:rPr sz="2400" b="1" i="0">
                <a:solidFill>
                  <a:srgbClr val="C0504D"/>
                </a:solidFill>
                <a:latin typeface="Calibri"/>
              </a:rPr>
              <a:t>→  S_min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1A1A1A"/>
                </a:solidFill>
                <a:latin typeface="Calibri"/>
              </a:rPr>
              <a:t>remove them entirely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940000"/>
            <a:ext cx="11430000" cy="143000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2940000"/>
            <a:ext cx="150000" cy="14300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65760" y="3315000"/>
            <a:ext cx="680000" cy="680000"/>
          </a:xfrm>
          <a:prstGeom prst="ellipse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5760" y="3375000"/>
            <a:ext cx="68000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45760" y="3050000"/>
            <a:ext cx="7580000" cy="1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A300"/>
                </a:solidFill>
                <a:latin typeface="Calibri"/>
              </a:rPr>
              <a:t>Blocks are not equally important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Taylor importance (|grad × weight|) differs block-to-block. One global ratio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over-prunes the critical blocks (accuracy drops) and under-prunes the redundant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ones (budget wasted) — the cut lands in exactly the wrong places.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45760" y="4070000"/>
            <a:ext cx="300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FA300"/>
                </a:solidFill>
                <a:latin typeface="Calibri"/>
              </a:rPr>
              <a:t>isomorphic: width is flat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25760" y="3090000"/>
            <a:ext cx="2550000" cy="113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FF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45760" y="3170000"/>
            <a:ext cx="2310000" cy="10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25252"/>
                </a:solidFill>
                <a:latin typeface="Calibri"/>
              </a:rPr>
              <a:t>our fix</a:t>
            </a:r>
          </a:p>
          <a:p>
            <a:pPr algn="l">
              <a:spcBef>
                <a:spcPts val="400"/>
              </a:spcBef>
            </a:pPr>
            <a:r>
              <a:rPr sz="2400" b="1" i="0">
                <a:solidFill>
                  <a:srgbClr val="FFA300"/>
                </a:solidFill>
                <a:latin typeface="Calibri"/>
              </a:rPr>
              <a:t>→  θ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1A1A1A"/>
                </a:solidFill>
                <a:latin typeface="Calibri"/>
              </a:rPr>
              <a:t>per-group ratios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520000"/>
            <a:ext cx="11430000" cy="143000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4520000"/>
            <a:ext cx="150000" cy="143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65760" y="4895000"/>
            <a:ext cx="680000" cy="68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5760" y="4955000"/>
            <a:ext cx="68000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45760" y="4630000"/>
            <a:ext cx="7580000" cy="1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68B5"/>
                </a:solidFill>
                <a:latin typeface="Calibri"/>
              </a:rPr>
              <a:t>Block importances are not independent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Some blocks rise and fall in importance together (their scores are correlated).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Pruning each block in isolation ignores that a surviving block may depend on a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neighbour you just pruned — the decisions should inform each other.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45760" y="5650000"/>
            <a:ext cx="300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068B5"/>
                </a:solidFill>
                <a:latin typeface="Calibri"/>
              </a:rPr>
              <a:t>isomorphic: coupling ignored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25760" y="4670000"/>
            <a:ext cx="2550000" cy="113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68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45760" y="4750000"/>
            <a:ext cx="2310000" cy="10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25252"/>
                </a:solidFill>
                <a:latin typeface="Calibri"/>
              </a:rPr>
              <a:t>our fix</a:t>
            </a:r>
          </a:p>
          <a:p>
            <a:pPr algn="l">
              <a:spcBef>
                <a:spcPts val="400"/>
              </a:spcBef>
            </a:pPr>
            <a:r>
              <a:rPr sz="2400" b="1" i="0">
                <a:solidFill>
                  <a:srgbClr val="0068B5"/>
                </a:solidFill>
                <a:latin typeface="Calibri"/>
              </a:rPr>
              <a:t>→  α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1A1A1A"/>
                </a:solidFill>
                <a:latin typeface="Calibri"/>
              </a:rPr>
              <a:t>functional edges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The Key Difference: VainF's Graph  vs  Our Graph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40000"/>
            <a:ext cx="5610240" cy="38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80000"/>
            <a:ext cx="561024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Isomorphic Pruning (VainF)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65760" y="2390000"/>
            <a:ext cx="656746" cy="0"/>
          </a:xfrm>
          <a:prstGeom prst="bentConnector3">
            <a:avLst/>
          </a:prstGeom>
          <a:ln w="22225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842506" y="2390000"/>
            <a:ext cx="656746" cy="0"/>
          </a:xfrm>
          <a:prstGeom prst="bentConnector3">
            <a:avLst/>
          </a:prstGeom>
          <a:ln w="22225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319252" y="2390000"/>
            <a:ext cx="656746" cy="0"/>
          </a:xfrm>
          <a:prstGeom prst="bentConnector3">
            <a:avLst/>
          </a:prstGeom>
          <a:ln w="22225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545760" y="1980000"/>
            <a:ext cx="820000" cy="82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5760" y="2230000"/>
            <a:ext cx="82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Blk 0</a:t>
            </a:r>
          </a:p>
        </p:txBody>
      </p:sp>
      <p:sp>
        <p:nvSpPr>
          <p:cNvPr id="12" name="Oval 11"/>
          <p:cNvSpPr/>
          <p:nvPr/>
        </p:nvSpPr>
        <p:spPr>
          <a:xfrm>
            <a:off x="2022506" y="1980000"/>
            <a:ext cx="820000" cy="82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22506" y="2230000"/>
            <a:ext cx="82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Blk 1</a:t>
            </a:r>
          </a:p>
        </p:txBody>
      </p:sp>
      <p:sp>
        <p:nvSpPr>
          <p:cNvPr id="14" name="Oval 13"/>
          <p:cNvSpPr/>
          <p:nvPr/>
        </p:nvSpPr>
        <p:spPr>
          <a:xfrm>
            <a:off x="3499252" y="1980000"/>
            <a:ext cx="820000" cy="82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99252" y="2230000"/>
            <a:ext cx="82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Blk 2</a:t>
            </a:r>
          </a:p>
        </p:txBody>
      </p:sp>
      <p:sp>
        <p:nvSpPr>
          <p:cNvPr id="16" name="Oval 15"/>
          <p:cNvSpPr/>
          <p:nvPr/>
        </p:nvSpPr>
        <p:spPr>
          <a:xfrm>
            <a:off x="4975998" y="1980000"/>
            <a:ext cx="820000" cy="82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5998" y="2230000"/>
            <a:ext cx="82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Blk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160000"/>
            <a:ext cx="561024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25252"/>
                </a:solidFill>
                <a:latin typeface="Calibri"/>
              </a:rPr>
              <a:t>Blocks pruned in isolation · one ratio per type · all kept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6000" y="1040000"/>
            <a:ext cx="5610240" cy="3800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6000" y="1080000"/>
            <a:ext cx="561024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Our Typed Hypergraph  H = (V', E_s, E_f)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216000" y="2390000"/>
            <a:ext cx="656746" cy="0"/>
          </a:xfrm>
          <a:prstGeom prst="bentConnector3">
            <a:avLst/>
          </a:prstGeom>
          <a:ln w="22225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692746" y="2390000"/>
            <a:ext cx="656746" cy="0"/>
          </a:xfrm>
          <a:prstGeom prst="bentConnector3">
            <a:avLst/>
          </a:prstGeom>
          <a:ln w="22225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0169492" y="2390000"/>
            <a:ext cx="656746" cy="0"/>
          </a:xfrm>
          <a:prstGeom prst="bentConnector3">
            <a:avLst/>
          </a:prstGeom>
          <a:ln w="22225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6806000" y="1510000"/>
            <a:ext cx="0" cy="470000"/>
          </a:xfrm>
          <a:prstGeom prst="bentConnector3">
            <a:avLst/>
          </a:prstGeom>
          <a:ln w="2032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806000" y="1510000"/>
            <a:ext cx="4430238" cy="0"/>
          </a:xfrm>
          <a:prstGeom prst="bentConnector3">
            <a:avLst/>
          </a:prstGeom>
          <a:ln w="2032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236238" y="1510000"/>
            <a:ext cx="0" cy="470000"/>
          </a:xfrm>
          <a:prstGeom prst="bentConnector3">
            <a:avLst/>
          </a:prstGeom>
          <a:ln w="2032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8282746" y="1720000"/>
            <a:ext cx="0" cy="260000"/>
          </a:xfrm>
          <a:prstGeom prst="bentConnector3">
            <a:avLst/>
          </a:prstGeom>
          <a:ln w="2032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8282746" y="1720000"/>
            <a:ext cx="2953492" cy="0"/>
          </a:xfrm>
          <a:prstGeom prst="bentConnector3">
            <a:avLst/>
          </a:prstGeom>
          <a:ln w="2032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1236238" y="1720000"/>
            <a:ext cx="0" cy="260000"/>
          </a:xfrm>
          <a:prstGeom prst="bentConnector3">
            <a:avLst/>
          </a:prstGeom>
          <a:ln w="2032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6396000" y="1980000"/>
            <a:ext cx="820000" cy="820000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96000" y="2230000"/>
            <a:ext cx="82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Blk 0</a:t>
            </a:r>
          </a:p>
        </p:txBody>
      </p:sp>
      <p:sp>
        <p:nvSpPr>
          <p:cNvPr id="32" name="Oval 31"/>
          <p:cNvSpPr/>
          <p:nvPr/>
        </p:nvSpPr>
        <p:spPr>
          <a:xfrm>
            <a:off x="7872746" y="1980000"/>
            <a:ext cx="820000" cy="820000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72746" y="2230000"/>
            <a:ext cx="82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Blk 1</a:t>
            </a:r>
          </a:p>
        </p:txBody>
      </p:sp>
      <p:sp>
        <p:nvSpPr>
          <p:cNvPr id="34" name="Oval 33"/>
          <p:cNvSpPr/>
          <p:nvPr/>
        </p:nvSpPr>
        <p:spPr>
          <a:xfrm>
            <a:off x="9349492" y="1980000"/>
            <a:ext cx="820000" cy="820000"/>
          </a:xfrm>
          <a:prstGeom prst="ellipse">
            <a:avLst/>
          </a:prstGeom>
          <a:solidFill>
            <a:srgbClr val="EDEDED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49492" y="2170000"/>
            <a:ext cx="8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C0504D"/>
                </a:solidFill>
                <a:latin typeface="Calibri"/>
              </a:rPr>
              <a:t>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89492" y="2840000"/>
            <a:ext cx="9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C0504D"/>
                </a:solidFill>
                <a:latin typeface="Calibri"/>
              </a:rPr>
              <a:t>removed</a:t>
            </a:r>
          </a:p>
        </p:txBody>
      </p:sp>
      <p:sp>
        <p:nvSpPr>
          <p:cNvPr id="37" name="Oval 36"/>
          <p:cNvSpPr/>
          <p:nvPr/>
        </p:nvSpPr>
        <p:spPr>
          <a:xfrm>
            <a:off x="10826238" y="1980000"/>
            <a:ext cx="820000" cy="820000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826238" y="2230000"/>
            <a:ext cx="82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Blk 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16000" y="3160000"/>
            <a:ext cx="561024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25252"/>
                </a:solidFill>
                <a:latin typeface="Calibri"/>
              </a:rPr>
              <a:t>S_min removes a block · θ colors groups · α adds w_ij edges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620000"/>
            <a:ext cx="11430000" cy="1180000"/>
          </a:xfrm>
          <a:prstGeom prst="rect">
            <a:avLst/>
          </a:prstGeom>
          <a:solidFill>
            <a:srgbClr val="F5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65760" y="3620000"/>
            <a:ext cx="76200" cy="118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5760" y="3660000"/>
            <a:ext cx="1103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68B5"/>
                </a:solidFill>
                <a:latin typeface="Calibri"/>
              </a:rPr>
              <a:t>How to read the graph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05760" y="4060000"/>
            <a:ext cx="520000" cy="0"/>
          </a:xfrm>
          <a:prstGeom prst="bentConnector3">
            <a:avLst/>
          </a:prstGeom>
          <a:ln w="22225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265760" y="3930000"/>
            <a:ext cx="1021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Residual stream  —  </a:t>
            </a:r>
            <a:r>
              <a:rPr sz="1300">
                <a:solidFill>
                  <a:srgbClr val="525252"/>
                </a:solidFill>
                <a:latin typeface="Calibri"/>
              </a:rPr>
              <a:t>data flowing from one block to the next  (both methods)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5760" y="4250000"/>
            <a:ext cx="140000" cy="140000"/>
          </a:xfrm>
          <a:prstGeom prst="rect">
            <a:avLst/>
          </a:prstGeom>
          <a:solidFill>
            <a:srgbClr val="9BBEDF"/>
          </a:solidFill>
          <a:ln w="635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75760" y="4250000"/>
            <a:ext cx="140000" cy="140000"/>
          </a:xfrm>
          <a:prstGeom prst="rect">
            <a:avLst/>
          </a:prstGeom>
          <a:solidFill>
            <a:srgbClr val="0068B5"/>
          </a:solidFill>
          <a:ln w="635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45760" y="4250000"/>
            <a:ext cx="140000" cy="140000"/>
          </a:xfrm>
          <a:prstGeom prst="rect">
            <a:avLst/>
          </a:prstGeom>
          <a:solidFill>
            <a:srgbClr val="1A2744"/>
          </a:solidFill>
          <a:ln w="635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265760" y="4200000"/>
            <a:ext cx="1021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68B5"/>
                </a:solidFill>
                <a:latin typeface="Calibri"/>
              </a:rPr>
              <a:t>E_s  Structural edge  —  </a:t>
            </a:r>
            <a:r>
              <a:rPr sz="1300">
                <a:solidFill>
                  <a:srgbClr val="525252"/>
                </a:solidFill>
                <a:latin typeface="Calibri"/>
              </a:rPr>
              <a:t>weights INSIDE one block that must be cut together (qkv·proj·mlp)  —  both methods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05760" y="4600000"/>
            <a:ext cx="520000" cy="0"/>
          </a:xfrm>
          <a:prstGeom prst="bentConnector3">
            <a:avLst/>
          </a:prstGeom>
          <a:ln w="1905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1265760" y="4470000"/>
            <a:ext cx="1021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A300"/>
                </a:solidFill>
                <a:latin typeface="Calibri"/>
              </a:rPr>
              <a:t>E_f  Functional edge  —  </a:t>
            </a:r>
            <a:r>
              <a:rPr sz="1300">
                <a:solidFill>
                  <a:srgbClr val="525252"/>
                </a:solidFill>
                <a:latin typeface="Calibri"/>
              </a:rPr>
              <a:t>links TWO blocks with similar importance; lets importance flow between them  —  NEW (ours)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65760" y="6388000"/>
            <a:ext cx="11430000" cy="330000"/>
          </a:xfrm>
          <a:prstGeom prst="rect">
            <a:avLst/>
          </a:prstGeom>
          <a:solidFill>
            <a:srgbClr val="1A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65760" y="6388000"/>
            <a:ext cx="120000" cy="3300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5760" y="6428000"/>
            <a:ext cx="1098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Same structural edges as VainF  +  block removal (V')  +  functional edges (E_f).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The Three Parameters, Defined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7</a:t>
            </a:r>
          </a:p>
        </p:txBody>
      </p:sp>
      <p:sp>
        <p:nvSpPr>
          <p:cNvPr id="5" name="Rectangle 4"/>
          <p:cNvSpPr/>
          <p:nvPr/>
        </p:nvSpPr>
        <p:spPr>
          <a:xfrm>
            <a:off x="366000" y="1020000"/>
            <a:ext cx="3700000" cy="3680000"/>
          </a:xfrm>
          <a:prstGeom prst="rect">
            <a:avLst/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6000" y="1020000"/>
            <a:ext cx="3700000" cy="14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000" y="1240000"/>
            <a:ext cx="33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C0504D"/>
                </a:solidFill>
                <a:latin typeface="Calibri"/>
              </a:rPr>
              <a:t>S_min</a:t>
            </a:r>
          </a:p>
          <a:p>
            <a:pPr algn="l">
              <a:spcBef>
                <a:spcPts val="200"/>
              </a:spcBef>
            </a:pPr>
            <a:r>
              <a:rPr sz="1300" b="1" i="0">
                <a:solidFill>
                  <a:srgbClr val="1A1A1A"/>
                </a:solidFill>
                <a:latin typeface="Calibri"/>
              </a:rPr>
              <a:t>depth-pruning threshold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000" y="1980000"/>
            <a:ext cx="3320000" cy="8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0504D"/>
                </a:solidFill>
                <a:latin typeface="Calibri"/>
              </a:rPr>
              <a:t>Definition</a:t>
            </a:r>
          </a:p>
          <a:p>
            <a:pPr algn="l">
              <a:spcBef>
                <a:spcPts val="300"/>
              </a:spcBef>
            </a:pPr>
            <a:r>
              <a:rPr sz="1250" b="0" i="0">
                <a:solidFill>
                  <a:srgbClr val="525252"/>
                </a:solidFill>
                <a:latin typeface="Calibri"/>
              </a:rPr>
              <a:t>A threshold on block sensitivity — how much the output changes when a block is skipped.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526000" y="2900000"/>
            <a:ext cx="3380000" cy="620000"/>
          </a:xfrm>
          <a:prstGeom prst="rect">
            <a:avLst/>
          </a:prstGeom>
          <a:solidFill>
            <a:srgbClr val="F7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6000" y="2960000"/>
            <a:ext cx="322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1">
                <a:solidFill>
                  <a:srgbClr val="C0504D"/>
                </a:solidFill>
                <a:latin typeface="Calibri"/>
              </a:rPr>
              <a:t>S(i) = mean ‖f(x) − f_bypass(x)‖ / ‖f(x)‖</a:t>
            </a:r>
          </a:p>
          <a:p>
            <a:pPr algn="l">
              <a:spcBef>
                <a:spcPts val="600"/>
              </a:spcBef>
            </a:pPr>
            <a:r>
              <a:rPr sz="1200" b="1" i="1">
                <a:solidFill>
                  <a:srgbClr val="C0504D"/>
                </a:solidFill>
                <a:latin typeface="Calibri"/>
              </a:rPr>
              <a:t>remove block i  if  S(i) &lt; S_min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000" y="3640000"/>
            <a:ext cx="3320000" cy="9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Graph effect:  shrinks the node set V′ — redundant blocks are deleted entirely.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46000" y="1020000"/>
            <a:ext cx="3700000" cy="368000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46000" y="1020000"/>
            <a:ext cx="3700000" cy="14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46000" y="1240000"/>
            <a:ext cx="33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68B5"/>
                </a:solidFill>
                <a:latin typeface="Calibri"/>
              </a:rPr>
              <a:t>θ</a:t>
            </a:r>
          </a:p>
          <a:p>
            <a:pPr algn="l">
              <a:spcBef>
                <a:spcPts val="200"/>
              </a:spcBef>
            </a:pPr>
            <a:r>
              <a:rPr sz="1300" b="1" i="0">
                <a:solidFill>
                  <a:srgbClr val="1A1A1A"/>
                </a:solidFill>
                <a:latin typeface="Calibri"/>
              </a:rPr>
              <a:t>grouping threshold (theta)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6000" y="1980000"/>
            <a:ext cx="3320000" cy="8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68B5"/>
                </a:solidFill>
                <a:latin typeface="Calibri"/>
              </a:rPr>
              <a:t>Definition</a:t>
            </a:r>
          </a:p>
          <a:p>
            <a:pPr algn="l">
              <a:spcBef>
                <a:spcPts val="300"/>
              </a:spcBef>
            </a:pPr>
            <a:r>
              <a:rPr sz="1250" b="0" i="0">
                <a:solidFill>
                  <a:srgbClr val="525252"/>
                </a:solidFill>
                <a:latin typeface="Calibri"/>
              </a:rPr>
              <a:t>Blocks with similar importance are merged into one group; each group gets its own ratio.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06000" y="2900000"/>
            <a:ext cx="3380000" cy="620000"/>
          </a:xfrm>
          <a:prstGeom prst="rect">
            <a:avLst/>
          </a:prstGeom>
          <a:solidFill>
            <a:srgbClr val="C9D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6000" y="2960000"/>
            <a:ext cx="322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1">
                <a:solidFill>
                  <a:srgbClr val="0068B5"/>
                </a:solidFill>
                <a:latin typeface="Calibri"/>
              </a:rPr>
              <a:t>group i, j   if   |Î_i − Î_j| &lt; θ</a:t>
            </a:r>
          </a:p>
          <a:p>
            <a:pPr algn="l">
              <a:spcBef>
                <a:spcPts val="600"/>
              </a:spcBef>
            </a:pPr>
            <a:r>
              <a:rPr sz="1200" b="1" i="1">
                <a:solidFill>
                  <a:srgbClr val="0068B5"/>
                </a:solidFill>
                <a:latin typeface="Calibri"/>
              </a:rPr>
              <a:t>θ = 1 → one group (uniform);  θ = 0 → all separate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46000" y="3640000"/>
            <a:ext cx="3320000" cy="9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Graph effect:  partitions blocks into groups — important groups are pruned less.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26000" y="1020000"/>
            <a:ext cx="3700000" cy="368000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26000" y="1020000"/>
            <a:ext cx="3700000" cy="1400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6000" y="1240000"/>
            <a:ext cx="33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A300"/>
                </a:solidFill>
                <a:latin typeface="Calibri"/>
              </a:rPr>
              <a:t>α</a:t>
            </a:r>
          </a:p>
          <a:p>
            <a:pPr algn="l">
              <a:spcBef>
                <a:spcPts val="200"/>
              </a:spcBef>
            </a:pPr>
            <a:r>
              <a:rPr sz="1300" b="1" i="0">
                <a:solidFill>
                  <a:srgbClr val="1A1A1A"/>
                </a:solidFill>
                <a:latin typeface="Calibri"/>
              </a:rPr>
              <a:t>coupling strength (alpha)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6000" y="1980000"/>
            <a:ext cx="3320000" cy="8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A300"/>
                </a:solidFill>
                <a:latin typeface="Calibri"/>
              </a:rPr>
              <a:t>Definition</a:t>
            </a:r>
          </a:p>
          <a:p>
            <a:pPr algn="l">
              <a:spcBef>
                <a:spcPts val="300"/>
              </a:spcBef>
            </a:pPr>
            <a:r>
              <a:rPr sz="1250" b="0" i="0">
                <a:solidFill>
                  <a:srgbClr val="525252"/>
                </a:solidFill>
                <a:latin typeface="Calibri"/>
              </a:rPr>
              <a:t>Adds functional edges between blocks of similar importance and lets them boost each other.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86000" y="2900000"/>
            <a:ext cx="3380000" cy="620000"/>
          </a:xfrm>
          <a:prstGeom prst="rect">
            <a:avLst/>
          </a:prstGeom>
          <a:solidFill>
            <a:srgbClr val="FFE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66000" y="2960000"/>
            <a:ext cx="322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1">
                <a:solidFill>
                  <a:srgbClr val="FFA300"/>
                </a:solidFill>
                <a:latin typeface="Calibri"/>
              </a:rPr>
              <a:t>w_ij = min(I_i, I_j) / max(I_i, I_j)</a:t>
            </a:r>
          </a:p>
          <a:p>
            <a:pPr algn="l">
              <a:spcBef>
                <a:spcPts val="600"/>
              </a:spcBef>
            </a:pPr>
            <a:r>
              <a:rPr sz="1200" b="1" i="1">
                <a:solidFill>
                  <a:srgbClr val="FFA300"/>
                </a:solidFill>
                <a:latin typeface="Calibri"/>
              </a:rPr>
              <a:t>I↑(j) = I(j) · (1 + α · Σ w_ij·I(i)/Z)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6000" y="3640000"/>
            <a:ext cx="3320000" cy="9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Graph effect:  creates E_f — a block's importance rises with its coupled neighbours'.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4880000"/>
            <a:ext cx="11430000" cy="680000"/>
          </a:xfrm>
          <a:prstGeom prst="rect">
            <a:avLst/>
          </a:prstGeom>
          <a:solidFill>
            <a:srgbClr val="1A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" y="4880000"/>
            <a:ext cx="150000" cy="6800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760" y="4950000"/>
            <a:ext cx="1093000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Set  S_min = 0,  θ = 1,  α = 0  →  exactly Isomorphic Pruning (VainF).</a:t>
            </a:r>
          </a:p>
          <a:p>
            <a:pPr algn="l">
              <a:spcBef>
                <a:spcPts val="600"/>
              </a:spcBef>
            </a:pPr>
            <a:r>
              <a:rPr sz="1500" b="0" i="0">
                <a:solidFill>
                  <a:srgbClr val="FFA300"/>
                </a:solidFill>
                <a:latin typeface="Calibri"/>
              </a:rPr>
              <a:t>VainF is one corner of our space; the three knobs let us search for a better point.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Worked Example: Building the Graph, One Component at a Time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8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20000"/>
            <a:ext cx="11430000" cy="1220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40000"/>
            <a:ext cx="110000" cy="96000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5760" y="1170000"/>
            <a:ext cx="300000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FBFBF"/>
                </a:solidFill>
                <a:latin typeface="Calibri"/>
              </a:rPr>
              <a:t>0   Start  =  VainF</a:t>
            </a:r>
          </a:p>
          <a:p>
            <a:pPr algn="l">
              <a:spcBef>
                <a:spcPts val="600"/>
              </a:spcBef>
            </a:pPr>
            <a:r>
              <a:rPr sz="1200" b="0" i="0">
                <a:solidFill>
                  <a:srgbClr val="525252"/>
                </a:solidFill>
                <a:latin typeface="Calibri"/>
              </a:rPr>
              <a:t>All 5 blocks kept · one uniform ratio · no inter-block edges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305760" y="169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185880" y="169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066000" y="169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946120" y="169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3865760" y="1470000"/>
            <a:ext cx="440000" cy="44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5760" y="157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B0</a:t>
            </a:r>
          </a:p>
        </p:txBody>
      </p:sp>
      <p:sp>
        <p:nvSpPr>
          <p:cNvPr id="14" name="Oval 13"/>
          <p:cNvSpPr/>
          <p:nvPr/>
        </p:nvSpPr>
        <p:spPr>
          <a:xfrm>
            <a:off x="5745880" y="1470000"/>
            <a:ext cx="440000" cy="44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45880" y="157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B1</a:t>
            </a:r>
          </a:p>
        </p:txBody>
      </p:sp>
      <p:sp>
        <p:nvSpPr>
          <p:cNvPr id="16" name="Oval 15"/>
          <p:cNvSpPr/>
          <p:nvPr/>
        </p:nvSpPr>
        <p:spPr>
          <a:xfrm>
            <a:off x="7626000" y="1470000"/>
            <a:ext cx="440000" cy="44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26000" y="157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B2</a:t>
            </a:r>
          </a:p>
        </p:txBody>
      </p:sp>
      <p:sp>
        <p:nvSpPr>
          <p:cNvPr id="18" name="Oval 17"/>
          <p:cNvSpPr/>
          <p:nvPr/>
        </p:nvSpPr>
        <p:spPr>
          <a:xfrm>
            <a:off x="9506120" y="1470000"/>
            <a:ext cx="440000" cy="44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06120" y="157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B3</a:t>
            </a:r>
          </a:p>
        </p:txBody>
      </p:sp>
      <p:sp>
        <p:nvSpPr>
          <p:cNvPr id="20" name="Oval 19"/>
          <p:cNvSpPr/>
          <p:nvPr/>
        </p:nvSpPr>
        <p:spPr>
          <a:xfrm>
            <a:off x="11386240" y="1470000"/>
            <a:ext cx="440000" cy="44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386240" y="157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2420000"/>
            <a:ext cx="110000" cy="96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5760" y="2450000"/>
            <a:ext cx="300000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0504D"/>
                </a:solidFill>
                <a:latin typeface="Calibri"/>
              </a:rPr>
              <a:t>+  S_min = 0.40</a:t>
            </a:r>
          </a:p>
          <a:p>
            <a:pPr algn="l">
              <a:spcBef>
                <a:spcPts val="600"/>
              </a:spcBef>
            </a:pPr>
            <a:r>
              <a:rPr sz="1200" b="0" i="0">
                <a:solidFill>
                  <a:srgbClr val="525252"/>
                </a:solidFill>
                <a:latin typeface="Calibri"/>
              </a:rPr>
              <a:t>B2 has S = 0.35 &lt; 0.40  →  removed entirely  (node set V′ shrinks)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305760" y="297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185880" y="2970000"/>
            <a:ext cx="332024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9946120" y="297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3865760" y="2750000"/>
            <a:ext cx="440000" cy="44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65760" y="285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85760" y="3215000"/>
            <a:ext cx="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Calibri"/>
              </a:rPr>
              <a:t>S=.90</a:t>
            </a:r>
          </a:p>
        </p:txBody>
      </p:sp>
      <p:sp>
        <p:nvSpPr>
          <p:cNvPr id="30" name="Oval 29"/>
          <p:cNvSpPr/>
          <p:nvPr/>
        </p:nvSpPr>
        <p:spPr>
          <a:xfrm>
            <a:off x="5745880" y="2750000"/>
            <a:ext cx="440000" cy="44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45880" y="285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5880" y="3215000"/>
            <a:ext cx="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Calibri"/>
              </a:rPr>
              <a:t>S=.85</a:t>
            </a:r>
          </a:p>
        </p:txBody>
      </p:sp>
      <p:sp>
        <p:nvSpPr>
          <p:cNvPr id="33" name="Oval 32"/>
          <p:cNvSpPr/>
          <p:nvPr/>
        </p:nvSpPr>
        <p:spPr>
          <a:xfrm>
            <a:off x="7626000" y="2750000"/>
            <a:ext cx="440000" cy="440000"/>
          </a:xfrm>
          <a:prstGeom prst="ellipse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26000" y="2820000"/>
            <a:ext cx="44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0504D"/>
                </a:solidFill>
                <a:latin typeface="Calibri"/>
              </a:rPr>
              <a:t>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46000" y="3215000"/>
            <a:ext cx="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0504D"/>
                </a:solidFill>
                <a:latin typeface="Calibri"/>
              </a:rPr>
              <a:t>S=.35</a:t>
            </a:r>
          </a:p>
        </p:txBody>
      </p:sp>
      <p:sp>
        <p:nvSpPr>
          <p:cNvPr id="36" name="Oval 35"/>
          <p:cNvSpPr/>
          <p:nvPr/>
        </p:nvSpPr>
        <p:spPr>
          <a:xfrm>
            <a:off x="9506120" y="2750000"/>
            <a:ext cx="440000" cy="44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506120" y="285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26120" y="3215000"/>
            <a:ext cx="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Calibri"/>
              </a:rPr>
              <a:t>S=.55</a:t>
            </a:r>
          </a:p>
        </p:txBody>
      </p:sp>
      <p:sp>
        <p:nvSpPr>
          <p:cNvPr id="39" name="Oval 38"/>
          <p:cNvSpPr/>
          <p:nvPr/>
        </p:nvSpPr>
        <p:spPr>
          <a:xfrm>
            <a:off x="11386240" y="2750000"/>
            <a:ext cx="440000" cy="44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386240" y="285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06240" y="3215000"/>
            <a:ext cx="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Calibri"/>
              </a:rPr>
              <a:t>S=.60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" y="3580000"/>
            <a:ext cx="11430000" cy="1220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5760" y="3700000"/>
            <a:ext cx="110000" cy="96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5760" y="3730000"/>
            <a:ext cx="300000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68B5"/>
                </a:solidFill>
                <a:latin typeface="Calibri"/>
              </a:rPr>
              <a:t>+  θ  (grouping)</a:t>
            </a:r>
          </a:p>
          <a:p>
            <a:pPr algn="l">
              <a:spcBef>
                <a:spcPts val="600"/>
              </a:spcBef>
            </a:pPr>
            <a:r>
              <a:rPr sz="1200" b="0" i="0">
                <a:solidFill>
                  <a:srgbClr val="525252"/>
                </a:solidFill>
                <a:latin typeface="Calibri"/>
              </a:rPr>
              <a:t>Group by importance:  {B0,B1} high → r↓ ,   {B3,B4} low → r↑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4305760" y="425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6185880" y="4250000"/>
            <a:ext cx="332024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9946120" y="425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3865760" y="3880000"/>
            <a:ext cx="2320120" cy="0"/>
          </a:xfrm>
          <a:prstGeom prst="bentConnector3">
            <a:avLst/>
          </a:prstGeom>
          <a:ln w="15875">
            <a:solidFill>
              <a:srgbClr val="70AD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3865760" y="3880000"/>
            <a:ext cx="0" cy="70000"/>
          </a:xfrm>
          <a:prstGeom prst="bentConnector3">
            <a:avLst/>
          </a:prstGeom>
          <a:ln w="15875">
            <a:solidFill>
              <a:srgbClr val="70AD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6185880" y="3880000"/>
            <a:ext cx="0" cy="70000"/>
          </a:xfrm>
          <a:prstGeom prst="bentConnector3">
            <a:avLst/>
          </a:prstGeom>
          <a:ln w="15875">
            <a:solidFill>
              <a:srgbClr val="70AD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275820" y="3630000"/>
            <a:ext cx="150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70AD47"/>
                </a:solidFill>
                <a:latin typeface="Calibri"/>
              </a:rPr>
              <a:t>Group A · r↓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9506120" y="3880000"/>
            <a:ext cx="2320120" cy="0"/>
          </a:xfrm>
          <a:prstGeom prst="bentConnector3">
            <a:avLst/>
          </a:prstGeom>
          <a:ln w="15875">
            <a:solidFill>
              <a:srgbClr val="C0504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9506120" y="3880000"/>
            <a:ext cx="0" cy="70000"/>
          </a:xfrm>
          <a:prstGeom prst="bentConnector3">
            <a:avLst/>
          </a:prstGeom>
          <a:ln w="15875">
            <a:solidFill>
              <a:srgbClr val="C0504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1826240" y="3880000"/>
            <a:ext cx="0" cy="70000"/>
          </a:xfrm>
          <a:prstGeom prst="bentConnector3">
            <a:avLst/>
          </a:prstGeom>
          <a:ln w="15875">
            <a:solidFill>
              <a:srgbClr val="C0504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9916180" y="3630000"/>
            <a:ext cx="150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0504D"/>
                </a:solidFill>
                <a:latin typeface="Calibri"/>
              </a:rPr>
              <a:t>Group B · r↑</a:t>
            </a:r>
          </a:p>
        </p:txBody>
      </p:sp>
      <p:sp>
        <p:nvSpPr>
          <p:cNvPr id="56" name="Oval 55"/>
          <p:cNvSpPr/>
          <p:nvPr/>
        </p:nvSpPr>
        <p:spPr>
          <a:xfrm>
            <a:off x="3865760" y="4030000"/>
            <a:ext cx="440000" cy="440000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865760" y="413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785760" y="4495000"/>
            <a:ext cx="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Calibri"/>
              </a:rPr>
              <a:t>I=.45</a:t>
            </a:r>
          </a:p>
        </p:txBody>
      </p:sp>
      <p:sp>
        <p:nvSpPr>
          <p:cNvPr id="59" name="Oval 58"/>
          <p:cNvSpPr/>
          <p:nvPr/>
        </p:nvSpPr>
        <p:spPr>
          <a:xfrm>
            <a:off x="5745880" y="4030000"/>
            <a:ext cx="440000" cy="440000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45880" y="413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65880" y="4495000"/>
            <a:ext cx="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Calibri"/>
              </a:rPr>
              <a:t>I=.42</a:t>
            </a:r>
          </a:p>
        </p:txBody>
      </p:sp>
      <p:sp>
        <p:nvSpPr>
          <p:cNvPr id="62" name="Oval 61"/>
          <p:cNvSpPr/>
          <p:nvPr/>
        </p:nvSpPr>
        <p:spPr>
          <a:xfrm>
            <a:off x="7626000" y="4030000"/>
            <a:ext cx="440000" cy="440000"/>
          </a:xfrm>
          <a:prstGeom prst="ellipse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626000" y="4100000"/>
            <a:ext cx="44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0504D"/>
                </a:solidFill>
                <a:latin typeface="Calibri"/>
              </a:rPr>
              <a:t>✕</a:t>
            </a:r>
          </a:p>
        </p:txBody>
      </p:sp>
      <p:sp>
        <p:nvSpPr>
          <p:cNvPr id="64" name="Oval 63"/>
          <p:cNvSpPr/>
          <p:nvPr/>
        </p:nvSpPr>
        <p:spPr>
          <a:xfrm>
            <a:off x="9506120" y="4030000"/>
            <a:ext cx="440000" cy="440000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506120" y="413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426120" y="4495000"/>
            <a:ext cx="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Calibri"/>
              </a:rPr>
              <a:t>I=.24</a:t>
            </a:r>
          </a:p>
        </p:txBody>
      </p:sp>
      <p:sp>
        <p:nvSpPr>
          <p:cNvPr id="67" name="Oval 66"/>
          <p:cNvSpPr/>
          <p:nvPr/>
        </p:nvSpPr>
        <p:spPr>
          <a:xfrm>
            <a:off x="11386240" y="4030000"/>
            <a:ext cx="440000" cy="440000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1386240" y="413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06240" y="4495000"/>
            <a:ext cx="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Calibri"/>
              </a:rPr>
              <a:t>I=.22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65760" y="4980000"/>
            <a:ext cx="110000" cy="9600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65760" y="5010000"/>
            <a:ext cx="300000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A300"/>
                </a:solidFill>
                <a:latin typeface="Calibri"/>
              </a:rPr>
              <a:t>+  α  (coupling)</a:t>
            </a:r>
          </a:p>
          <a:p>
            <a:pPr algn="l">
              <a:spcBef>
                <a:spcPts val="600"/>
              </a:spcBef>
            </a:pPr>
            <a:r>
              <a:rPr sz="1200" b="0" i="0">
                <a:solidFill>
                  <a:srgbClr val="525252"/>
                </a:solidFill>
                <a:latin typeface="Calibri"/>
              </a:rPr>
              <a:t>Functional edges couple within groups:  B0–B1  and  B3–B4  boost each other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4305760" y="553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6185880" y="5530000"/>
            <a:ext cx="332024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9946120" y="553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4085760" y="5010000"/>
            <a:ext cx="0" cy="300000"/>
          </a:xfrm>
          <a:prstGeom prst="bentConnector3">
            <a:avLst/>
          </a:prstGeom>
          <a:ln w="15875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4085760" y="5010000"/>
            <a:ext cx="1880120" cy="0"/>
          </a:xfrm>
          <a:prstGeom prst="bentConnector3">
            <a:avLst/>
          </a:prstGeom>
          <a:ln w="15875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5965880" y="5010000"/>
            <a:ext cx="0" cy="300000"/>
          </a:xfrm>
          <a:prstGeom prst="bentConnector3">
            <a:avLst/>
          </a:prstGeom>
          <a:ln w="15875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9726120" y="5160000"/>
            <a:ext cx="0" cy="150000"/>
          </a:xfrm>
          <a:prstGeom prst="bentConnector3">
            <a:avLst/>
          </a:prstGeom>
          <a:ln w="15875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9726120" y="5160000"/>
            <a:ext cx="1880120" cy="0"/>
          </a:xfrm>
          <a:prstGeom prst="bentConnector3">
            <a:avLst/>
          </a:prstGeom>
          <a:ln w="15875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1606240" y="5160000"/>
            <a:ext cx="0" cy="150000"/>
          </a:xfrm>
          <a:prstGeom prst="bentConnector3">
            <a:avLst/>
          </a:prstGeom>
          <a:ln w="15875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Oval 80"/>
          <p:cNvSpPr/>
          <p:nvPr/>
        </p:nvSpPr>
        <p:spPr>
          <a:xfrm>
            <a:off x="3865760" y="5310000"/>
            <a:ext cx="440000" cy="440000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865760" y="541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B0</a:t>
            </a:r>
          </a:p>
        </p:txBody>
      </p:sp>
      <p:sp>
        <p:nvSpPr>
          <p:cNvPr id="83" name="Oval 82"/>
          <p:cNvSpPr/>
          <p:nvPr/>
        </p:nvSpPr>
        <p:spPr>
          <a:xfrm>
            <a:off x="5745880" y="5310000"/>
            <a:ext cx="440000" cy="440000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745880" y="541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B1</a:t>
            </a:r>
          </a:p>
        </p:txBody>
      </p:sp>
      <p:sp>
        <p:nvSpPr>
          <p:cNvPr id="85" name="Oval 84"/>
          <p:cNvSpPr/>
          <p:nvPr/>
        </p:nvSpPr>
        <p:spPr>
          <a:xfrm>
            <a:off x="7626000" y="5310000"/>
            <a:ext cx="440000" cy="440000"/>
          </a:xfrm>
          <a:prstGeom prst="ellipse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626000" y="5380000"/>
            <a:ext cx="44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0504D"/>
                </a:solidFill>
                <a:latin typeface="Calibri"/>
              </a:rPr>
              <a:t>✕</a:t>
            </a:r>
          </a:p>
        </p:txBody>
      </p:sp>
      <p:sp>
        <p:nvSpPr>
          <p:cNvPr id="87" name="Oval 86"/>
          <p:cNvSpPr/>
          <p:nvPr/>
        </p:nvSpPr>
        <p:spPr>
          <a:xfrm>
            <a:off x="9506120" y="5310000"/>
            <a:ext cx="440000" cy="440000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506120" y="541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B3</a:t>
            </a:r>
          </a:p>
        </p:txBody>
      </p:sp>
      <p:sp>
        <p:nvSpPr>
          <p:cNvPr id="89" name="Oval 88"/>
          <p:cNvSpPr/>
          <p:nvPr/>
        </p:nvSpPr>
        <p:spPr>
          <a:xfrm>
            <a:off x="11386240" y="5310000"/>
            <a:ext cx="440000" cy="440000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1386240" y="541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65760" y="6388000"/>
            <a:ext cx="1143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25252"/>
                </a:solidFill>
                <a:latin typeface="Calibri"/>
              </a:rPr>
              <a:t>Illustrative 5-block example (values chosen to show the mechanism). Each row adds one component to the row above — the graph is built up, not rebuilt.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