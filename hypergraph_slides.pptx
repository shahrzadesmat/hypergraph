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Efficient Vision Transformers Need Smart Pruning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56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9BBEDF"/>
                </a:solidFill>
                <a:latin typeface="Calibri"/>
              </a:rPr>
              <a:t>Not all transformer blocks are equally important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6080" y="2390000"/>
            <a:ext cx="6309360" cy="38100"/>
          </a:xfrm>
          <a:prstGeom prst="rect">
            <a:avLst/>
          </a:prstGeom>
          <a:solidFill>
            <a:srgbClr val="FFA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6000" y="2530000"/>
            <a:ext cx="3200000" cy="685800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6000" y="2610000"/>
            <a:ext cx="3040000" cy="52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DeiT-Small: 4.6G MACs</a:t>
            </a:r>
          </a:p>
          <a:p>
            <a:pPr algn="ctr">
              <a:spcBef>
                <a:spcPts val="600"/>
              </a:spcBef>
            </a:pPr>
            <a:r>
              <a:rPr sz="1300" b="0" i="0">
                <a:solidFill>
                  <a:srgbClr val="9BBEDF"/>
                </a:solidFill>
                <a:latin typeface="Calibri"/>
              </a:rPr>
              <a:t>Too expensive for edge</a:t>
            </a:r>
          </a:p>
        </p:txBody>
      </p:sp>
      <p:sp>
        <p:nvSpPr>
          <p:cNvPr id="8" name="Rectangle 7"/>
          <p:cNvSpPr/>
          <p:nvPr/>
        </p:nvSpPr>
        <p:spPr>
          <a:xfrm>
            <a:off x="4496000" y="2530000"/>
            <a:ext cx="3200000" cy="685800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6000" y="2610000"/>
            <a:ext cx="3040000" cy="52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Structured Pruning</a:t>
            </a:r>
          </a:p>
          <a:p>
            <a:pPr algn="ctr">
              <a:spcBef>
                <a:spcPts val="600"/>
              </a:spcBef>
            </a:pPr>
            <a:r>
              <a:rPr sz="1300" b="0" i="0">
                <a:solidFill>
                  <a:srgbClr val="9BBEDF"/>
                </a:solidFill>
                <a:latin typeface="Calibri"/>
              </a:rPr>
              <a:t>Remove heads &amp; neurons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96000" y="2530000"/>
            <a:ext cx="3200000" cy="685800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76000" y="2610000"/>
            <a:ext cx="3040000" cy="52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Key Question</a:t>
            </a:r>
          </a:p>
          <a:p>
            <a:pPr algn="ctr">
              <a:spcBef>
                <a:spcPts val="600"/>
              </a:spcBef>
            </a:pPr>
            <a:r>
              <a:rPr sz="1300" b="0" i="0">
                <a:solidFill>
                  <a:srgbClr val="9BBEDF"/>
                </a:solidFill>
                <a:latin typeface="Calibri"/>
              </a:rPr>
              <a:t>Which to remove?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000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DDEE"/>
                </a:solidFill>
                <a:latin typeface="Calibri"/>
              </a:rPr>
              <a:t>Shahrzad Esmat  |  Iowa State University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8500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A300"/>
                </a:solidFill>
                <a:latin typeface="Calibri"/>
              </a:rPr>
              <a:t>Typed Pruning Hypergraph  ·  ablation on imagenet_10pct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Calibri"/>
              </a:rPr>
              <a:t>Existing Solution: Isomorphic Pruning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95528"/>
            <a:ext cx="11457432" cy="31750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  <a:latin typeface="Calibri"/>
              </a:rP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5600000" cy="5715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76200" cy="5715000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3400" y="974400"/>
            <a:ext cx="5000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68B5"/>
                </a:solidFill>
                <a:latin typeface="Calibri"/>
              </a:rPr>
              <a:t>Uniform Ratio Across All Blocks</a:t>
            </a:r>
          </a:p>
          <a:p>
            <a:pPr algn="l">
              <a:spcBef>
                <a:spcPts val="400"/>
              </a:spcBef>
            </a:pPr>
            <a:r>
              <a:rPr sz="6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525252"/>
                </a:solidFill>
                <a:latin typeface="Calibri"/>
              </a:rPr>
              <a:t>Goal: reduce DeiT-Small from 4.61G → 2.5G MACs</a:t>
            </a:r>
          </a:p>
          <a:p>
            <a:pPr algn="l">
              <a:spcBef>
                <a:spcPts val="400"/>
              </a:spcBef>
            </a:pPr>
            <a:r>
              <a:rPr sz="5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400" b="1" i="0">
                <a:solidFill>
                  <a:srgbClr val="1A1A1A"/>
                </a:solidFill>
                <a:latin typeface="Calibri"/>
              </a:rPr>
              <a:t>Formula:</a:t>
            </a:r>
          </a:p>
          <a:p>
            <a:pPr algn="l">
              <a:spcBef>
                <a:spcPts val="200"/>
              </a:spcBef>
            </a:pPr>
            <a:r>
              <a:rPr sz="1400" b="1" i="1">
                <a:solidFill>
                  <a:srgbClr val="0068B5"/>
                </a:solidFill>
                <a:latin typeface="Calibri"/>
              </a:rPr>
              <a:t>   r  =  1 − √( target_MACs / baseline_MACs )</a:t>
            </a:r>
          </a:p>
          <a:p>
            <a:pPr algn="l">
              <a:spcBef>
                <a:spcPts val="200"/>
              </a:spcBef>
            </a:pPr>
            <a:r>
              <a:rPr sz="1300" b="0" i="1">
                <a:solidFill>
                  <a:srgbClr val="525252"/>
                </a:solidFill>
                <a:latin typeface="Calibri"/>
              </a:rPr>
              <a:t>   r  =  1 − √( 2.5 / 4.61 )  ≈  0.264</a:t>
            </a:r>
          </a:p>
          <a:p>
            <a:pPr algn="l">
              <a:spcBef>
                <a:spcPts val="400"/>
              </a:spcBef>
            </a:pPr>
            <a:r>
              <a:rPr sz="5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400" b="1" i="0">
                <a:solidFill>
                  <a:srgbClr val="1A1A1A"/>
                </a:solidFill>
                <a:latin typeface="Calibri"/>
              </a:rPr>
              <a:t>Applied uniformly to every block: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525252"/>
                </a:solidFill>
                <a:latin typeface="Calibri"/>
              </a:rPr>
              <a:t>  • Attention:  6 heads → 4 heads (embed 384→256)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525252"/>
                </a:solidFill>
                <a:latin typeface="Calibri"/>
              </a:rPr>
              <a:t>  • MLP hidden: 1536 → 1130 neurons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525252"/>
                </a:solidFill>
                <a:latin typeface="Calibri"/>
              </a:rPr>
              <a:t>  • All 12 blocks treated identically</a:t>
            </a:r>
          </a:p>
          <a:p>
            <a:pPr algn="l">
              <a:spcBef>
                <a:spcPts val="400"/>
              </a:spcBef>
            </a:pPr>
            <a:r>
              <a:rPr sz="5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400" b="1" i="0">
                <a:solidFill>
                  <a:srgbClr val="70AD47"/>
                </a:solidFill>
                <a:latin typeface="Calibri"/>
              </a:rPr>
              <a:t>Result:  65.38% top-1  @  2.27G MACs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40000" y="874400"/>
            <a:ext cx="5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All 12 Blocks  — Same Ratio</a:t>
            </a:r>
          </a:p>
        </p:txBody>
      </p:sp>
      <p:sp>
        <p:nvSpPr>
          <p:cNvPr id="9" name="Rectangle 8"/>
          <p:cNvSpPr/>
          <p:nvPr/>
        </p:nvSpPr>
        <p:spPr>
          <a:xfrm>
            <a:off x="6240000" y="994400"/>
            <a:ext cx="680000" cy="310000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80000" y="1054400"/>
            <a:ext cx="6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Block 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00000" y="1054400"/>
            <a:ext cx="620000" cy="190000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00000" y="1054400"/>
            <a:ext cx="620000" cy="1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68B5"/>
                </a:solidFill>
                <a:latin typeface="Calibri"/>
              </a:rPr>
              <a:t>r = 0.264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40000" y="1364400"/>
            <a:ext cx="680000" cy="310000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0000" y="1424400"/>
            <a:ext cx="6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Block 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00000" y="1424400"/>
            <a:ext cx="620000" cy="190000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00000" y="1424400"/>
            <a:ext cx="620000" cy="1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68B5"/>
                </a:solidFill>
                <a:latin typeface="Calibri"/>
              </a:rPr>
              <a:t>r = 0.264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40000" y="1734400"/>
            <a:ext cx="680000" cy="310000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80000" y="1794400"/>
            <a:ext cx="6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Block 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00000" y="1794400"/>
            <a:ext cx="620000" cy="190000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00000" y="1794400"/>
            <a:ext cx="620000" cy="1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68B5"/>
                </a:solidFill>
                <a:latin typeface="Calibri"/>
              </a:rPr>
              <a:t>r = 0.264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40000" y="2104400"/>
            <a:ext cx="680000" cy="310000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80000" y="2164400"/>
            <a:ext cx="6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Block 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00000" y="2164400"/>
            <a:ext cx="620000" cy="190000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00000" y="2164400"/>
            <a:ext cx="620000" cy="1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68B5"/>
                </a:solidFill>
                <a:latin typeface="Calibri"/>
              </a:rPr>
              <a:t>r = 0.264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0000" y="2474400"/>
            <a:ext cx="680000" cy="310000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80000" y="2534400"/>
            <a:ext cx="6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Block 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00000" y="2534400"/>
            <a:ext cx="620000" cy="190000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00000" y="2534400"/>
            <a:ext cx="620000" cy="1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68B5"/>
                </a:solidFill>
                <a:latin typeface="Calibri"/>
              </a:rPr>
              <a:t>r = 0.264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40000" y="2844400"/>
            <a:ext cx="680000" cy="310000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80000" y="2904400"/>
            <a:ext cx="6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Block 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00000" y="2904400"/>
            <a:ext cx="620000" cy="190000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00000" y="2904400"/>
            <a:ext cx="620000" cy="1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68B5"/>
                </a:solidFill>
                <a:latin typeface="Calibri"/>
              </a:rPr>
              <a:t>r = 0.264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40000" y="3214400"/>
            <a:ext cx="680000" cy="310000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80000" y="3274400"/>
            <a:ext cx="6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Block 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00000" y="3274400"/>
            <a:ext cx="620000" cy="190000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00000" y="3274400"/>
            <a:ext cx="620000" cy="1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68B5"/>
                </a:solidFill>
                <a:latin typeface="Calibri"/>
              </a:rPr>
              <a:t>r = 0.264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40000" y="3584400"/>
            <a:ext cx="680000" cy="310000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80000" y="3644400"/>
            <a:ext cx="6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Block 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000000" y="3644400"/>
            <a:ext cx="620000" cy="190000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00000" y="3644400"/>
            <a:ext cx="620000" cy="1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68B5"/>
                </a:solidFill>
                <a:latin typeface="Calibri"/>
              </a:rPr>
              <a:t>r = 0.264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40000" y="3954400"/>
            <a:ext cx="680000" cy="310000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80000" y="4014400"/>
            <a:ext cx="6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Block 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000000" y="4014400"/>
            <a:ext cx="620000" cy="190000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00000" y="4014400"/>
            <a:ext cx="620000" cy="1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68B5"/>
                </a:solidFill>
                <a:latin typeface="Calibri"/>
              </a:rPr>
              <a:t>r = 0.264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40000" y="4324400"/>
            <a:ext cx="680000" cy="310000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80000" y="4384400"/>
            <a:ext cx="6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Block 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000000" y="4384400"/>
            <a:ext cx="620000" cy="190000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000000" y="4384400"/>
            <a:ext cx="620000" cy="1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68B5"/>
                </a:solidFill>
                <a:latin typeface="Calibri"/>
              </a:rPr>
              <a:t>r = 0.264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40000" y="4694400"/>
            <a:ext cx="680000" cy="310000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80000" y="4754400"/>
            <a:ext cx="6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Block 10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000000" y="4754400"/>
            <a:ext cx="620000" cy="190000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000000" y="4754400"/>
            <a:ext cx="620000" cy="1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68B5"/>
                </a:solidFill>
                <a:latin typeface="Calibri"/>
              </a:rPr>
              <a:t>r = 0.264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40000" y="5064400"/>
            <a:ext cx="680000" cy="310000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80000" y="5124400"/>
            <a:ext cx="6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Block 11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000000" y="5124400"/>
            <a:ext cx="620000" cy="190000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000000" y="5124400"/>
            <a:ext cx="620000" cy="1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68B5"/>
                </a:solidFill>
                <a:latin typeface="Calibri"/>
              </a:rPr>
              <a:t>r = 0.264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40000" y="5494400"/>
            <a:ext cx="5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25252"/>
                </a:solidFill>
                <a:latin typeface="Calibri"/>
              </a:rPr>
              <a:t>↑ Identical pruning ratio for all blocks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Calibri"/>
              </a:rPr>
              <a:t>The Gap: Uniform Pruning Ignores Block Importance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95528"/>
            <a:ext cx="11457432" cy="31750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  <a:latin typeface="Calibri"/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5600000" cy="5715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76200" cy="5715000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3400" y="974400"/>
            <a:ext cx="50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68B5"/>
                </a:solidFill>
                <a:latin typeface="Calibri"/>
              </a:rPr>
              <a:t>Two Critical Observations</a:t>
            </a:r>
          </a:p>
          <a:p>
            <a:pPr algn="l">
              <a:spcBef>
                <a:spcPts val="400"/>
              </a:spcBef>
            </a:pPr>
            <a:r>
              <a:rPr sz="6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400" b="1" i="0">
                <a:solidFill>
                  <a:srgbClr val="1A1A1A"/>
                </a:solidFill>
                <a:latin typeface="Calibri"/>
              </a:rPr>
              <a:t>① Block sensitivity spans 3×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525252"/>
                </a:solidFill>
                <a:latin typeface="Calibri"/>
              </a:rPr>
              <a:t>   Block 0:  S = 1.000  (critical — must keep)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525252"/>
                </a:solidFill>
                <a:latin typeface="Calibri"/>
              </a:rPr>
              <a:t>   Block 4:  S = 0.361  (near-redundant)</a:t>
            </a:r>
          </a:p>
          <a:p>
            <a:pPr algn="l">
              <a:spcBef>
                <a:spcPts val="200"/>
              </a:spcBef>
            </a:pPr>
            <a:r>
              <a:rPr sz="1300" b="1" i="0">
                <a:solidFill>
                  <a:srgbClr val="C0504D"/>
                </a:solidFill>
                <a:latin typeface="Calibri"/>
              </a:rPr>
              <a:t>   → Some blocks could be removed entirely</a:t>
            </a:r>
          </a:p>
          <a:p>
            <a:pPr algn="l">
              <a:spcBef>
                <a:spcPts val="400"/>
              </a:spcBef>
            </a:pPr>
            <a:r>
              <a:rPr sz="6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400" b="1" i="0">
                <a:solidFill>
                  <a:srgbClr val="1A1A1A"/>
                </a:solidFill>
                <a:latin typeface="Calibri"/>
              </a:rPr>
              <a:t>② Taylor importance also varies across blocks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525252"/>
                </a:solidFill>
                <a:latin typeface="Calibri"/>
              </a:rPr>
              <a:t>   High-importance blocks have 2.4× more gradient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525252"/>
                </a:solidFill>
                <a:latin typeface="Calibri"/>
              </a:rPr>
              <a:t>   signal than low-importance ones</a:t>
            </a:r>
          </a:p>
          <a:p>
            <a:pPr algn="l">
              <a:spcBef>
                <a:spcPts val="400"/>
              </a:spcBef>
            </a:pPr>
            <a:r>
              <a:rPr sz="6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400" b="1" i="0">
                <a:solidFill>
                  <a:srgbClr val="1A1A1A"/>
                </a:solidFill>
                <a:latin typeface="Calibri"/>
              </a:rPr>
              <a:t>③ Isomorphic prunes Block 0 and Block 4 equally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C0504D"/>
                </a:solidFill>
                <a:latin typeface="Calibri"/>
              </a:rPr>
              <a:t>   → Wastes MAC budget on redundant blocks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C0504D"/>
                </a:solidFill>
                <a:latin typeface="Calibri"/>
              </a:rPr>
              <a:t>   → Over-prunes the most critical block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40000" y="874400"/>
            <a:ext cx="5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Block Sensitivity  S(i)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0000" y="3474400"/>
            <a:ext cx="5620000" cy="25400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60000" y="3274400"/>
            <a:ext cx="15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504D"/>
                </a:solidFill>
                <a:latin typeface="Calibri"/>
              </a:rPr>
              <a:t>S_min = 0.40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40000" y="1194400"/>
            <a:ext cx="380000" cy="38000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40000" y="5034400"/>
            <a:ext cx="46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0000" y="994400"/>
            <a:ext cx="46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1A"/>
                </a:solidFill>
                <a:latin typeface="Calibri"/>
              </a:rPr>
              <a:t>1.00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00000" y="2562400"/>
            <a:ext cx="380000" cy="2432000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00000" y="5034400"/>
            <a:ext cx="46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00000" y="2362400"/>
            <a:ext cx="46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1A"/>
                </a:solidFill>
                <a:latin typeface="Calibri"/>
              </a:rPr>
              <a:t>0.64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60000" y="3208400"/>
            <a:ext cx="380000" cy="1786000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60000" y="5034400"/>
            <a:ext cx="46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60000" y="3008400"/>
            <a:ext cx="46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1A"/>
                </a:solidFill>
                <a:latin typeface="Calibri"/>
              </a:rPr>
              <a:t>0.47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20000" y="3565600"/>
            <a:ext cx="380000" cy="1428800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20000" y="5034400"/>
            <a:ext cx="46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0000" y="3365600"/>
            <a:ext cx="46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1A"/>
                </a:solidFill>
                <a:latin typeface="Calibri"/>
              </a:rPr>
              <a:t>0.38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80000" y="3622600"/>
            <a:ext cx="380000" cy="1371800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0000" y="5034400"/>
            <a:ext cx="46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0000" y="3422600"/>
            <a:ext cx="46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1A"/>
                </a:solidFill>
                <a:latin typeface="Calibri"/>
              </a:rPr>
              <a:t>0.36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40000" y="3580800"/>
            <a:ext cx="380000" cy="1413600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40000" y="5034400"/>
            <a:ext cx="46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0000" y="3380800"/>
            <a:ext cx="46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1A"/>
                </a:solidFill>
                <a:latin typeface="Calibri"/>
              </a:rPr>
              <a:t>0.37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00000" y="3436400"/>
            <a:ext cx="380000" cy="1558000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00000" y="5034400"/>
            <a:ext cx="46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0000" y="3236400"/>
            <a:ext cx="46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1A"/>
                </a:solidFill>
                <a:latin typeface="Calibri"/>
              </a:rPr>
              <a:t>0.41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460000" y="3371800"/>
            <a:ext cx="380000" cy="1622600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60000" y="5034400"/>
            <a:ext cx="46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60000" y="3171800"/>
            <a:ext cx="46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1A"/>
                </a:solidFill>
                <a:latin typeface="Calibri"/>
              </a:rPr>
              <a:t>0.43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920000" y="3181800"/>
            <a:ext cx="380000" cy="1812600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20000" y="5034400"/>
            <a:ext cx="46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20000" y="2981800"/>
            <a:ext cx="46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1A"/>
                </a:solidFill>
                <a:latin typeface="Calibri"/>
              </a:rPr>
              <a:t>0.48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380000" y="3033600"/>
            <a:ext cx="380000" cy="1960800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380000" y="5034400"/>
            <a:ext cx="46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80000" y="2833600"/>
            <a:ext cx="46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1A"/>
                </a:solidFill>
                <a:latin typeface="Calibri"/>
              </a:rPr>
              <a:t>0.52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840000" y="2839800"/>
            <a:ext cx="380000" cy="2154600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840000" y="5034400"/>
            <a:ext cx="46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40000" y="2639800"/>
            <a:ext cx="46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1A"/>
                </a:solidFill>
                <a:latin typeface="Calibri"/>
              </a:rPr>
              <a:t>0.57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300000" y="3181800"/>
            <a:ext cx="380000" cy="1812600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300000" y="5034400"/>
            <a:ext cx="46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11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300000" y="2981800"/>
            <a:ext cx="46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1A"/>
                </a:solidFill>
                <a:latin typeface="Calibri"/>
              </a:rPr>
              <a:t>0.48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90000" y="4994400"/>
            <a:ext cx="56200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40000" y="5344400"/>
            <a:ext cx="200000" cy="1500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90000" y="5344400"/>
            <a:ext cx="1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25252"/>
                </a:solidFill>
                <a:latin typeface="Calibri"/>
              </a:rPr>
              <a:t>Critical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90000" y="5344400"/>
            <a:ext cx="200000" cy="150000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40000" y="5344400"/>
            <a:ext cx="1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25252"/>
                </a:solidFill>
                <a:latin typeface="Calibri"/>
              </a:rPr>
              <a:t>Removed (S &lt; 0.40)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440000" y="5344400"/>
            <a:ext cx="200000" cy="150000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690000" y="5344400"/>
            <a:ext cx="1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25252"/>
                </a:solidFill>
                <a:latin typeface="Calibri"/>
              </a:rPr>
              <a:t>Surviving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Calibri"/>
              </a:rPr>
              <a:t>Our Method: Typed Pruning Hypergraph  H = (V′, E_s, E_f)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95528"/>
            <a:ext cx="11457432" cy="31750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  <a:latin typeface="Calibri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5600000" cy="5715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76200" cy="5715000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3400" y="974400"/>
            <a:ext cx="5000000" cy="5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68B5"/>
                </a:solidFill>
                <a:latin typeface="Calibri"/>
              </a:rPr>
              <a:t>Three Novel Parameters</a:t>
            </a:r>
          </a:p>
          <a:p>
            <a:pPr algn="l">
              <a:spcBef>
                <a:spcPts val="400"/>
              </a:spcBef>
            </a:pPr>
            <a:r>
              <a:rPr sz="8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500" b="1" i="0">
                <a:solidFill>
                  <a:srgbClr val="1A1A1A"/>
                </a:solidFill>
                <a:latin typeface="Calibri"/>
              </a:rPr>
              <a:t>① S_min — Depth Pruning</a:t>
            </a:r>
          </a:p>
          <a:p>
            <a:pPr algn="l">
              <a:spcBef>
                <a:spcPts val="200"/>
              </a:spcBef>
            </a:pPr>
            <a:r>
              <a:rPr sz="1300" b="0" i="1">
                <a:solidFill>
                  <a:srgbClr val="0068B5"/>
                </a:solidFill>
                <a:latin typeface="Calibri"/>
              </a:rPr>
              <a:t>   Remove block i entirely if  S(i) &lt; S_min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525252"/>
                </a:solidFill>
                <a:latin typeface="Calibri"/>
              </a:rPr>
              <a:t>   Sensitivity: S(i) = mean‖f(x)−f_bypass(x)‖/‖f(x)‖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525252"/>
                </a:solidFill>
                <a:latin typeface="Calibri"/>
              </a:rPr>
              <a:t>   → Frees MAC budget for surviving blocks</a:t>
            </a:r>
          </a:p>
          <a:p>
            <a:pPr algn="l">
              <a:spcBef>
                <a:spcPts val="400"/>
              </a:spcBef>
            </a:pPr>
            <a:r>
              <a:rPr sz="8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500" b="1" i="0">
                <a:solidFill>
                  <a:srgbClr val="1A1A1A"/>
                </a:solidFill>
                <a:latin typeface="Calibri"/>
              </a:rPr>
              <a:t>② θ — Heterogeneous Grouping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525252"/>
                </a:solidFill>
                <a:latin typeface="Calibri"/>
              </a:rPr>
              <a:t>   Group blocks by Taylor importance similarity (BFS)</a:t>
            </a:r>
          </a:p>
          <a:p>
            <a:pPr algn="l">
              <a:spcBef>
                <a:spcPts val="200"/>
              </a:spcBef>
            </a:pPr>
            <a:r>
              <a:rPr sz="1300" b="0" i="1">
                <a:solidFill>
                  <a:srgbClr val="0068B5"/>
                </a:solidFill>
                <a:latin typeface="Calibri"/>
              </a:rPr>
              <a:t>   Per-group ratio:  r_i = r_base × (2 − norm_imp_i)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525252"/>
                </a:solidFill>
                <a:latin typeface="Calibri"/>
              </a:rPr>
              <a:t>   Important groups pruned less; redundant groups pruned more</a:t>
            </a:r>
          </a:p>
          <a:p>
            <a:pPr algn="l">
              <a:spcBef>
                <a:spcPts val="400"/>
              </a:spcBef>
            </a:pPr>
            <a:r>
              <a:rPr sz="8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500" b="1" i="0">
                <a:solidFill>
                  <a:srgbClr val="1A1A1A"/>
                </a:solidFill>
                <a:latin typeface="Calibri"/>
              </a:rPr>
              <a:t>③ α — Functional Coupling</a:t>
            </a:r>
          </a:p>
          <a:p>
            <a:pPr algn="l">
              <a:spcBef>
                <a:spcPts val="200"/>
              </a:spcBef>
            </a:pPr>
            <a:r>
              <a:rPr sz="1300" b="0" i="1">
                <a:solidFill>
                  <a:srgbClr val="0068B5"/>
                </a:solidFill>
                <a:latin typeface="Calibri"/>
              </a:rPr>
              <a:t>   I_up(j) = I(j) × (1 + α × Σ w_ij · I(i)/Z)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525252"/>
                </a:solidFill>
                <a:latin typeface="Calibri"/>
              </a:rPr>
              <a:t>   Predecessors with high importance boost their successors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40000" y="974400"/>
            <a:ext cx="5400000" cy="1400000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40000" y="974400"/>
            <a:ext cx="200000" cy="1400000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00000" y="1054400"/>
            <a:ext cx="506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504D"/>
                </a:solidFill>
                <a:latin typeface="Calibri"/>
              </a:rPr>
              <a:t>① S_min = 0.40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0000" y="1394400"/>
            <a:ext cx="5060000" cy="9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25252"/>
                </a:solidFill>
                <a:latin typeface="Calibri"/>
              </a:rPr>
              <a:t>Remove blocks 3, 4, 5  (S &lt; 0.40)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525252"/>
                </a:solidFill>
                <a:latin typeface="Calibri"/>
              </a:rPr>
              <a:t>3 of 12 blocks removed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525252"/>
                </a:solidFill>
                <a:latin typeface="Calibri"/>
              </a:rPr>
              <a:t>MAC budget redistributed to 9 survivors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90000" y="2404400"/>
            <a:ext cx="30000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BFBFBF"/>
                </a:solidFill>
                <a:latin typeface="Calibri"/>
              </a:rPr>
              <a:t>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40000" y="2574400"/>
            <a:ext cx="5400000" cy="1400000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40000" y="2574400"/>
            <a:ext cx="200000" cy="1400000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0000" y="2654400"/>
            <a:ext cx="506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68B5"/>
                </a:solidFill>
                <a:latin typeface="Calibri"/>
              </a:rPr>
              <a:t>② θ = 0.025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0000" y="2994400"/>
            <a:ext cx="5060000" cy="9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25252"/>
                </a:solidFill>
                <a:latin typeface="Calibri"/>
              </a:rPr>
              <a:t>BFS grouping by Taylor scores → 6 groups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525252"/>
                </a:solidFill>
                <a:latin typeface="Calibri"/>
              </a:rPr>
              <a:t>Each group assigned its own pruning ratio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525252"/>
                </a:solidFill>
                <a:latin typeface="Calibri"/>
              </a:rPr>
              <a:t>Important blocks (e.g. Block 0) get r ≈ 0.10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90000" y="4004400"/>
            <a:ext cx="30000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BFBFBF"/>
                </a:solidFill>
                <a:latin typeface="Calibri"/>
              </a:rPr>
              <a:t>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0000" y="4174400"/>
            <a:ext cx="5400000" cy="14000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0000" y="4174400"/>
            <a:ext cx="200000" cy="1400000"/>
          </a:xfrm>
          <a:prstGeom prst="rect">
            <a:avLst/>
          </a:prstGeom>
          <a:solidFill>
            <a:srgbClr val="FFA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00000" y="4254400"/>
            <a:ext cx="506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A300"/>
                </a:solidFill>
                <a:latin typeface="Calibri"/>
              </a:rPr>
              <a:t>③ α = 0.3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0000" y="4594400"/>
            <a:ext cx="5060000" cy="9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25252"/>
                </a:solidFill>
                <a:latin typeface="Calibri"/>
              </a:rPr>
              <a:t>Functional edges boost important blocks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525252"/>
                </a:solidFill>
                <a:latin typeface="Calibri"/>
              </a:rPr>
              <a:t>I_up(j) = I(j) × (1 + 0.3 × Σ w_ij·I(i)/Z)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525252"/>
                </a:solidFill>
                <a:latin typeface="Calibri"/>
              </a:rPr>
              <a:t>Factor bounded to [1, 1.3]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Calibri"/>
              </a:rPr>
              <a:t>Example: Heterogeneous vs Uniform Allocation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95528"/>
            <a:ext cx="11457432" cy="31750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5760" y="974400"/>
            <a:ext cx="56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Same MAC budget  —  different allocation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5760" y="1274400"/>
            <a:ext cx="24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68B5"/>
                </a:solidFill>
                <a:latin typeface="Calibri"/>
              </a:rPr>
              <a:t>Isomorphic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15760" y="1274400"/>
            <a:ext cx="24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A300"/>
                </a:solidFill>
                <a:latin typeface="Calibri"/>
              </a:rPr>
              <a:t>Ours (H-Pruning)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5760" y="1624400"/>
            <a:ext cx="600000" cy="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Block 0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525252"/>
                </a:solidFill>
                <a:latin typeface="Calibri"/>
              </a:rPr>
              <a:t>S=1.00</a:t>
            </a:r>
          </a:p>
        </p:txBody>
      </p:sp>
      <p:sp>
        <p:nvSpPr>
          <p:cNvPr id="9" name="Rectangle 8"/>
          <p:cNvSpPr/>
          <p:nvPr/>
        </p:nvSpPr>
        <p:spPr>
          <a:xfrm>
            <a:off x="1065760" y="1834400"/>
            <a:ext cx="1324800" cy="260000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30560" y="1834400"/>
            <a:ext cx="4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68B5"/>
                </a:solidFill>
                <a:latin typeface="Calibri"/>
              </a:rPr>
              <a:t>r=0.26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65760" y="1834400"/>
            <a:ext cx="1620000" cy="2600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25760" y="1834400"/>
            <a:ext cx="5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AD47"/>
                </a:solidFill>
                <a:latin typeface="Calibri"/>
              </a:rPr>
              <a:t>r=0.10 (-0.16)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5760" y="2384400"/>
            <a:ext cx="600000" cy="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Block 1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525252"/>
                </a:solidFill>
                <a:latin typeface="Calibri"/>
              </a:rPr>
              <a:t>S=0.64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65760" y="2594400"/>
            <a:ext cx="1324800" cy="260000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30560" y="2594400"/>
            <a:ext cx="4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68B5"/>
                </a:solidFill>
                <a:latin typeface="Calibri"/>
              </a:rPr>
              <a:t>r=0.26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65760" y="2594400"/>
            <a:ext cx="1404000" cy="2600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09760" y="2594400"/>
            <a:ext cx="5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AD47"/>
                </a:solidFill>
                <a:latin typeface="Calibri"/>
              </a:rPr>
              <a:t>r=0.22 (-0.04)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5760" y="3144400"/>
            <a:ext cx="600000" cy="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Block 4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525252"/>
                </a:solidFill>
                <a:latin typeface="Calibri"/>
              </a:rPr>
              <a:t>S=0.36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65760" y="3354400"/>
            <a:ext cx="1324800" cy="260000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30560" y="3354400"/>
            <a:ext cx="4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68B5"/>
                </a:solidFill>
                <a:latin typeface="Calibri"/>
              </a:rPr>
              <a:t>r=0.26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65760" y="3354400"/>
            <a:ext cx="1800000" cy="260000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15760" y="3394400"/>
            <a:ext cx="9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504D"/>
                </a:solidFill>
                <a:latin typeface="Calibri"/>
              </a:rPr>
              <a:t>REMOVED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760" y="3904400"/>
            <a:ext cx="600000" cy="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Block 9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525252"/>
                </a:solidFill>
                <a:latin typeface="Calibri"/>
              </a:rPr>
              <a:t>S=0.52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65760" y="4114400"/>
            <a:ext cx="1324800" cy="260000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30560" y="4114400"/>
            <a:ext cx="4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68B5"/>
                </a:solidFill>
                <a:latin typeface="Calibri"/>
              </a:rPr>
              <a:t>r=0.26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65760" y="4114400"/>
            <a:ext cx="1260000" cy="260000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65760" y="4114400"/>
            <a:ext cx="5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504D"/>
                </a:solidFill>
                <a:latin typeface="Calibri"/>
              </a:rPr>
              <a:t>r=0.30 (+0.04)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5760" y="4744400"/>
            <a:ext cx="55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25252"/>
                </a:solidFill>
                <a:latin typeface="Calibri"/>
              </a:rPr>
              <a:t>Budget preserved: Σ r_i × MACs_i  =  Σ r_iso × MACs_i  (by design)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000" y="974400"/>
            <a:ext cx="5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Ablation Results  (imagenet_10pct, 20 epochs)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000" y="1284400"/>
            <a:ext cx="54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25252"/>
                </a:solidFill>
                <a:latin typeface="Calibri"/>
              </a:rPr>
              <a:t>DeiT-Small, target 2.5G MACs, seed=42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000" y="1694400"/>
            <a:ext cx="1267200" cy="360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27200" y="1694400"/>
            <a:ext cx="9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FBFBF"/>
                </a:solidFill>
                <a:latin typeface="Calibri"/>
              </a:rPr>
              <a:t>65.38%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00000" y="1594400"/>
            <a:ext cx="1900000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iso_baseline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525252"/>
                </a:solidFill>
                <a:latin typeface="Calibri"/>
              </a:rPr>
              <a:t>(S_min=0, θ=1.0, α=0)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000" y="2354400"/>
            <a:ext cx="1612799" cy="360000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72799" y="2354400"/>
            <a:ext cx="9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68B5"/>
                </a:solidFill>
                <a:latin typeface="Calibri"/>
              </a:rPr>
              <a:t>65.62%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22799" y="2354400"/>
            <a:ext cx="7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0AD47"/>
                </a:solidFill>
                <a:latin typeface="Calibri"/>
              </a:rPr>
              <a:t>(+0.24%)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00000" y="2254400"/>
            <a:ext cx="1900000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+ S_min=0.40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525252"/>
                </a:solidFill>
                <a:latin typeface="Calibri"/>
              </a:rPr>
              <a:t>(depth pruning)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000" y="3014400"/>
            <a:ext cx="2073599" cy="360000"/>
          </a:xfrm>
          <a:prstGeom prst="rect">
            <a:avLst/>
          </a:prstGeom>
          <a:solidFill>
            <a:srgbClr val="FFA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33599" y="3014400"/>
            <a:ext cx="9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A300"/>
                </a:solidFill>
                <a:latin typeface="Calibri"/>
              </a:rPr>
              <a:t>65.94%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83599" y="3014400"/>
            <a:ext cx="7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0AD47"/>
                </a:solidFill>
                <a:latin typeface="Calibri"/>
              </a:rPr>
              <a:t>(+0.32%)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00000" y="2914400"/>
            <a:ext cx="1900000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+ θ=0.025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525252"/>
                </a:solidFill>
                <a:latin typeface="Calibri"/>
              </a:rPr>
              <a:t>(heterogeneous groups)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000" y="3674400"/>
            <a:ext cx="2505599" cy="3600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65599" y="3674400"/>
            <a:ext cx="9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0AD47"/>
                </a:solidFill>
                <a:latin typeface="Calibri"/>
              </a:rPr>
              <a:t>66.24%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15599" y="3674400"/>
            <a:ext cx="7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0AD47"/>
                </a:solidFill>
                <a:latin typeface="Calibri"/>
              </a:rPr>
              <a:t>(+0.30%)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00000" y="3574400"/>
            <a:ext cx="1900000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+ α=0.3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525252"/>
                </a:solidFill>
                <a:latin typeface="Calibri"/>
              </a:rPr>
              <a:t>(functional coupling)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000" y="4314400"/>
            <a:ext cx="5400000" cy="3800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00000" y="4314400"/>
            <a:ext cx="120000" cy="3800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80000" y="4374400"/>
            <a:ext cx="51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0AD47"/>
                </a:solidFill>
                <a:latin typeface="Calibri"/>
              </a:rPr>
              <a:t>Total gain over isomorphic baseline:  +0.86pp  at same 2.27G MACs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