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9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7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576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8588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6600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4612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4588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588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2600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0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50612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612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8624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8624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20000"/>
            <a:ext cx="110000" cy="9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45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0576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5880" y="297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4612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76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S=.90</a:t>
            </a:r>
          </a:p>
        </p:txBody>
      </p:sp>
      <p:sp>
        <p:nvSpPr>
          <p:cNvPr id="30" name="Oval 29"/>
          <p:cNvSpPr/>
          <p:nvPr/>
        </p:nvSpPr>
        <p:spPr>
          <a:xfrm>
            <a:off x="574588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588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588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S=.85</a:t>
            </a:r>
          </a:p>
        </p:txBody>
      </p:sp>
      <p:sp>
        <p:nvSpPr>
          <p:cNvPr id="33" name="Oval 32"/>
          <p:cNvSpPr/>
          <p:nvPr/>
        </p:nvSpPr>
        <p:spPr>
          <a:xfrm>
            <a:off x="7626000" y="275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00" y="282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600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Calibri"/>
              </a:rPr>
              <a:t>S=.35</a:t>
            </a:r>
          </a:p>
        </p:txBody>
      </p:sp>
      <p:sp>
        <p:nvSpPr>
          <p:cNvPr id="36" name="Oval 35"/>
          <p:cNvSpPr/>
          <p:nvPr/>
        </p:nvSpPr>
        <p:spPr>
          <a:xfrm>
            <a:off x="950612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612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2612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S=.55</a:t>
            </a:r>
          </a:p>
        </p:txBody>
      </p:sp>
      <p:sp>
        <p:nvSpPr>
          <p:cNvPr id="39" name="Oval 38"/>
          <p:cNvSpPr/>
          <p:nvPr/>
        </p:nvSpPr>
        <p:spPr>
          <a:xfrm>
            <a:off x="1138624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8624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0624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58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00000"/>
            <a:ext cx="110000" cy="9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60" y="373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 {B0,B1} high → r↓ ,   {B3,B4} low → r↑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0576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85880" y="425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4612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65760" y="3880000"/>
            <a:ext cx="2320120" cy="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6576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8588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7582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0AD47"/>
                </a:solidFill>
                <a:latin typeface="Calibri"/>
              </a:rPr>
              <a:t>Group A · r↓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6120" y="3880000"/>
            <a:ext cx="2320120" cy="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612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82624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91618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504D"/>
                </a:solidFill>
                <a:latin typeface="Calibri"/>
              </a:rPr>
              <a:t>Group B · r↑</a:t>
            </a:r>
          </a:p>
        </p:txBody>
      </p:sp>
      <p:sp>
        <p:nvSpPr>
          <p:cNvPr id="56" name="Oval 55"/>
          <p:cNvSpPr/>
          <p:nvPr/>
        </p:nvSpPr>
        <p:spPr>
          <a:xfrm>
            <a:off x="386576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76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576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I=.45</a:t>
            </a:r>
          </a:p>
        </p:txBody>
      </p:sp>
      <p:sp>
        <p:nvSpPr>
          <p:cNvPr id="59" name="Oval 58"/>
          <p:cNvSpPr/>
          <p:nvPr/>
        </p:nvSpPr>
        <p:spPr>
          <a:xfrm>
            <a:off x="574588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588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588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I=.42</a:t>
            </a:r>
          </a:p>
        </p:txBody>
      </p:sp>
      <p:sp>
        <p:nvSpPr>
          <p:cNvPr id="62" name="Oval 61"/>
          <p:cNvSpPr/>
          <p:nvPr/>
        </p:nvSpPr>
        <p:spPr>
          <a:xfrm>
            <a:off x="7626000" y="403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00" y="410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64" name="Oval 63"/>
          <p:cNvSpPr/>
          <p:nvPr/>
        </p:nvSpPr>
        <p:spPr>
          <a:xfrm>
            <a:off x="950612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612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612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I=.24</a:t>
            </a:r>
          </a:p>
        </p:txBody>
      </p:sp>
      <p:sp>
        <p:nvSpPr>
          <p:cNvPr id="67" name="Oval 66"/>
          <p:cNvSpPr/>
          <p:nvPr/>
        </p:nvSpPr>
        <p:spPr>
          <a:xfrm>
            <a:off x="1138624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38624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624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80000"/>
            <a:ext cx="110000" cy="9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760" y="501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couple within groups:  B0–B1  and  B3–B4  boost each other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30576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185880" y="553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4612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08576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5760" y="501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6588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2612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6120" y="516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60624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86576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6576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83" name="Oval 82"/>
          <p:cNvSpPr/>
          <p:nvPr/>
        </p:nvSpPr>
        <p:spPr>
          <a:xfrm>
            <a:off x="574588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4588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85" name="Oval 84"/>
          <p:cNvSpPr/>
          <p:nvPr/>
        </p:nvSpPr>
        <p:spPr>
          <a:xfrm>
            <a:off x="7626000" y="531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26000" y="538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87" name="Oval 86"/>
          <p:cNvSpPr/>
          <p:nvPr/>
        </p:nvSpPr>
        <p:spPr>
          <a:xfrm>
            <a:off x="950612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0612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89" name="Oval 88"/>
          <p:cNvSpPr/>
          <p:nvPr/>
        </p:nvSpPr>
        <p:spPr>
          <a:xfrm>
            <a:off x="1138624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8624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Background:  How SOTA Compresses an LLM (e.g. FLAT-LLM)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Low-rank methods shrink a model by replacing each layer with a </a:t>
            </a:r>
            <a:r>
              <a:rPr sz="1400" b="1">
                <a:solidFill>
                  <a:srgbClr val="0068B5"/>
                </a:solidFill>
                <a:latin typeface="Calibri"/>
              </a:rPr>
              <a:t>smaller approximation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that keeps only its most useful patterns.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107899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07899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What is “rank”, simply?    </a:t>
            </a:r>
            <a:r>
              <a:rPr sz="1300" b="0">
                <a:solidFill>
                  <a:srgbClr val="1A1A1A"/>
                </a:solidFill>
                <a:latin typeface="Calibri"/>
              </a:rPr>
              <a:t>A layer does its job using a number of independent patterns.  </a:t>
            </a:r>
            <a:r>
              <a:rPr sz="1300" b="1">
                <a:solidFill>
                  <a:srgbClr val="1A1A1A"/>
                </a:solidFill>
                <a:latin typeface="Calibri"/>
              </a:rPr>
              <a:t>“Rank” = how many of those patterns we keep.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Keeping fewer patterns (lower rank) makes the layer smaller and faster — like describing a photo with a few broad strokes instead of every pixel.   </a:t>
            </a:r>
            <a:r>
              <a:rPr sz="1300" b="1">
                <a:solidFill>
                  <a:srgbClr val="1A1A1A"/>
                </a:solidFill>
                <a:latin typeface="Calibri"/>
              </a:rPr>
              <a:t>So “how much to compress a layer” = “how many patterns (rank) to keep.”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15184"/>
            <a:ext cx="3685032" cy="22128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615184"/>
            <a:ext cx="3685032" cy="9144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2871215"/>
            <a:ext cx="566928" cy="56692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The primitive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Approximate each FFN by a low-rank factor — keep its top patterns (directions). Fewer kept = less compute.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8244" y="2615184"/>
            <a:ext cx="3685032" cy="221284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8244" y="2615184"/>
            <a:ext cx="3685032" cy="9144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39412" y="2871215"/>
            <a:ext cx="566928" cy="56692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9412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4356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The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9412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 fixed TOTAL rank is shared across all 32 layers. The core question: how much rank does each layer get?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0728" y="2615184"/>
            <a:ext cx="3685032" cy="221284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0728" y="2615184"/>
            <a:ext cx="3685032" cy="914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11896" y="2871215"/>
            <a:ext cx="566928" cy="56692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04D"/>
                </a:solidFill>
                <a:latin typeface="Calibri"/>
              </a:rPr>
              <a:t>Allocation — FLAT-LLM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Score each layer LOCALLY (angular block-influence = how much it rotates the residual); give rank in proportion (IPRS).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74920"/>
            <a:ext cx="11430000" cy="7315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074920"/>
            <a:ext cx="146304" cy="7315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57216"/>
            <a:ext cx="109728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All SOTA low-rank methods (ASVD, SVD-LLM, FLAT-LLM) share this template: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per-layer LOCAL score, with each layer allocated independently.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The Weakness We Cure:  Layers Are Scored in Isolation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A local, per-layer score cannot see how a layer's compression error </a:t>
            </a:r>
            <a:r>
              <a:rPr sz="1400" b="1">
                <a:solidFill>
                  <a:srgbClr val="C0504D"/>
                </a:solidFill>
                <a:latin typeface="Calibri"/>
              </a:rPr>
              <a:t>travels through the rest of the network.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623560" cy="36118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46304" cy="36118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0504D"/>
                </a:solidFill>
                <a:latin typeface="Calibri"/>
              </a:rPr>
              <a:t>The blind spot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21408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Transformer layers form a chain through the residual stream.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An error from compressing an </a:t>
            </a:r>
            <a:r>
              <a:rPr sz="1300" b="1">
                <a:solidFill>
                  <a:srgbClr val="1A1A1A"/>
                </a:solidFill>
                <a:latin typeface="Calibri"/>
              </a:rPr>
              <a:t>early</a:t>
            </a:r>
            <a:r>
              <a:rPr sz="1300" b="0">
                <a:solidFill>
                  <a:srgbClr val="525252"/>
                </a:solidFill>
                <a:latin typeface="Calibri"/>
              </a:rPr>
              <a:t> layer does not stay local — it </a:t>
            </a:r>
            <a:r>
              <a:rPr sz="1300" b="1">
                <a:solidFill>
                  <a:srgbClr val="C0504D"/>
                </a:solidFill>
                <a:latin typeface="Calibri"/>
              </a:rPr>
              <a:t>propagates and amplifies</a:t>
            </a:r>
            <a:r>
              <a:rPr sz="1300" b="0">
                <a:solidFill>
                  <a:srgbClr val="525252"/>
                </a:solidFill>
                <a:latin typeface="Calibri"/>
              </a:rPr>
              <a:t> downstream (we measure up to ~30× at the output).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A local score is computed at </a:t>
            </a:r>
            <a:r>
              <a:rPr sz="1300" b="1">
                <a:solidFill>
                  <a:srgbClr val="1A1A1A"/>
                </a:solidFill>
                <a:latin typeface="Calibri"/>
              </a:rPr>
              <a:t>one layer in isolation</a:t>
            </a:r>
            <a:r>
              <a:rPr sz="1300" b="0">
                <a:solidFill>
                  <a:srgbClr val="525252"/>
                </a:solidFill>
                <a:latin typeface="Calibri"/>
              </a:rPr>
              <a:t> — structurally blind to this propagation.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417320"/>
            <a:ext cx="5623560" cy="361188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417320"/>
            <a:ext cx="146304" cy="36118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2E8B57"/>
                </a:solidFill>
                <a:latin typeface="Calibri"/>
              </a:rPr>
              <a:t>Our cure  (the novelty)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21408"/>
            <a:ext cx="5120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Allocate rank by </a:t>
            </a:r>
            <a:r>
              <a:rPr sz="1300" b="1">
                <a:solidFill>
                  <a:srgbClr val="1A1A1A"/>
                </a:solidFill>
                <a:latin typeface="Calibri"/>
              </a:rPr>
              <a:t>downstream impact</a:t>
            </a:r>
            <a:r>
              <a:rPr sz="1300" b="0">
                <a:solidFill>
                  <a:srgbClr val="525252"/>
                </a:solidFill>
                <a:latin typeface="Calibri"/>
              </a:rPr>
              <a:t>, not local importance: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•  measure each layer's </a:t>
            </a:r>
            <a:r>
              <a:rPr sz="1300" b="1">
                <a:solidFill>
                  <a:srgbClr val="2E8B57"/>
                </a:solidFill>
                <a:latin typeface="Calibri"/>
              </a:rPr>
              <a:t>error amplification</a:t>
            </a:r>
            <a:r>
              <a:rPr sz="1300" b="0">
                <a:solidFill>
                  <a:srgbClr val="525252"/>
                </a:solidFill>
                <a:latin typeface="Calibri"/>
              </a:rPr>
              <a:t> to the output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•  account for </a:t>
            </a:r>
            <a:r>
              <a:rPr sz="1300" b="1">
                <a:solidFill>
                  <a:srgbClr val="2E8B57"/>
                </a:solidFill>
                <a:latin typeface="Calibri"/>
              </a:rPr>
              <a:t>cross-layer coupling</a:t>
            </a:r>
            <a:r>
              <a:rPr sz="1300" b="0">
                <a:solidFill>
                  <a:srgbClr val="525252"/>
                </a:solidFill>
                <a:latin typeface="Calibri"/>
              </a:rPr>
              <a:t> — allocate jointly, not greedily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Protect layers whose errors blow up;  compress hard where they damp.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212080"/>
            <a:ext cx="11430000" cy="9601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5212080"/>
            <a:ext cx="146304" cy="9601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303520"/>
            <a:ext cx="10972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Novelty in one line:  </a:t>
            </a:r>
            <a:r>
              <a:rPr sz="1300" b="1">
                <a:solidFill>
                  <a:srgbClr val="1A1A1A"/>
                </a:solidFill>
                <a:latin typeface="Calibri"/>
              </a:rPr>
              <a:t>the first error-propagation-aware, cross-layer-coupled rank allocation for low-rank LLM compression.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Prior work allocates per layer in isolation; we allocate over the propagation graph.   </a:t>
            </a:r>
            <a:r>
              <a:rPr sz="1200" b="0">
                <a:solidFill>
                  <a:srgbClr val="2E8B57"/>
                </a:solidFill>
                <a:latin typeface="Calibri"/>
              </a:rPr>
              <a:t>(Result next: it beats FLAT-LLM at the same budget.)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1:  Compression Error Amplifies with Depth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A layer's </a:t>
            </a:r>
            <a:r>
              <a:rPr sz="1400" b="1">
                <a:solidFill>
                  <a:srgbClr val="C0504D"/>
                </a:solidFill>
                <a:latin typeface="Calibri"/>
              </a:rPr>
              <a:t>local</a:t>
            </a:r>
            <a:r>
              <a:rPr sz="1400" b="1">
                <a:solidFill>
                  <a:srgbClr val="1A1A1A"/>
                </a:solidFill>
                <a:latin typeface="Calibri"/>
              </a:rPr>
              <a:t> error is not its true cost — it propagates to the output, and the amplification depends on depth.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11430000" cy="512064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53896"/>
            <a:ext cx="11064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68B5"/>
                </a:solidFill>
                <a:latin typeface="Calibri"/>
              </a:rPr>
              <a:t>Probe:  </a:t>
            </a:r>
            <a:r>
              <a:rPr sz="1200" b="0">
                <a:solidFill>
                  <a:srgbClr val="525252"/>
                </a:solidFill>
                <a:latin typeface="Calibri"/>
              </a:rPr>
              <a:t>rank-truncate ONE layer's FFN, measure  </a:t>
            </a:r>
            <a:r>
              <a:rPr sz="1200" b="1">
                <a:solidFill>
                  <a:srgbClr val="1A1A1A"/>
                </a:solidFill>
                <a:latin typeface="Calibri"/>
              </a:rPr>
              <a:t>Δ output ÷ Δ local</a:t>
            </a:r>
            <a:r>
              <a:rPr sz="1200" b="0">
                <a:solidFill>
                  <a:srgbClr val="525252"/>
                </a:solidFill>
                <a:latin typeface="Calibri"/>
              </a:rPr>
              <a:t>  = how much its error blows up by the time it reaches the logits.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286000"/>
            <a:ext cx="960120" cy="233172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30.8×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2753189"/>
            <a:ext cx="960120" cy="186453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46058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14.9×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819977"/>
            <a:ext cx="960120" cy="1797742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2527369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13.4×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366553"/>
            <a:ext cx="960120" cy="125116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3073945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5.4×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877242"/>
            <a:ext cx="960120" cy="740477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584634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2.0×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3923744"/>
            <a:ext cx="960120" cy="693975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363113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1.8×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4086290"/>
            <a:ext cx="960120" cy="53142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379368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1.2×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L24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260070"/>
            <a:ext cx="960120" cy="35764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0" y="396746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0.7×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956048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amplification = Δe2e ÷ Δlocal   (log scale; L0 = nearest input)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9560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0504D"/>
                </a:solidFill>
                <a:latin typeface="Calibri"/>
              </a:rPr>
              <a:t>early → amplify ~30×    </a:t>
            </a:r>
            <a:r>
              <a:rPr sz="1100" b="1">
                <a:solidFill>
                  <a:srgbClr val="0068B5"/>
                </a:solidFill>
                <a:latin typeface="Calibri"/>
              </a:rPr>
              <a:t>late → damp &lt;1×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C0504D"/>
                </a:solidFill>
                <a:latin typeface="Calibri"/>
              </a:rPr>
              <a:t>Implication:  </a:t>
            </a:r>
            <a:r>
              <a:rPr sz="1300" b="0">
                <a:solidFill>
                  <a:srgbClr val="1A1A1A"/>
                </a:solidFill>
                <a:latin typeface="Calibri"/>
              </a:rPr>
              <a:t>the true cost of compressing a layer varies ~43× by depth.  Methods that allocate rank by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error (FLAT-LLM, ASVD, SVD-LLM) optimize the wrong quantity.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2:  Layer Errors Couple — a Graph, Not Just a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Do layers' compression errors </a:t>
            </a:r>
            <a:r>
              <a:rPr sz="1400" b="1">
                <a:solidFill>
                  <a:srgbClr val="0068B5"/>
                </a:solidFill>
                <a:latin typeface="Calibri"/>
              </a:rPr>
              <a:t>interact</a:t>
            </a:r>
            <a:r>
              <a:rPr sz="1400" b="1">
                <a:solidFill>
                  <a:srgbClr val="1A1A1A"/>
                </a:solidFill>
                <a:latin typeface="Calibri"/>
              </a:rPr>
              <a:t>?  If so, rank must be allocated jointly, not greedily per-layer.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44752"/>
            <a:ext cx="1143000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146304" cy="118872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719072"/>
            <a:ext cx="658368" cy="65836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59105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A300"/>
                </a:solidFill>
                <a:latin typeface="Calibri"/>
              </a:rPr>
              <a:t>Errors are non-additive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1993392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Compressing two layers together ≠ sum of each alone.  Interaction (mean 0.60) is large — joint effects matter.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61488"/>
            <a:ext cx="11430000" cy="1188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761488"/>
            <a:ext cx="146304" cy="11887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3035808"/>
            <a:ext cx="658368" cy="65836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063240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|cos|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290779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68B5"/>
                </a:solidFill>
                <a:latin typeface="Calibri"/>
              </a:rPr>
              <a:t>Coupling is local (banded)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3310128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Error directions align for nearby layers, decay with distance:  adjacent 0.46  ›  distant 0.28.  A banded graph.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78224"/>
            <a:ext cx="11430000" cy="118872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078224"/>
            <a:ext cx="146304" cy="11887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" y="4352544"/>
            <a:ext cx="658368" cy="65836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379976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28–31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5336" y="422452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0504D"/>
                </a:solidFill>
                <a:latin typeface="Calibri"/>
              </a:rPr>
              <a:t>The tail decouples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5336" y="4626864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The final block is weakly coupled to all others (|cos| 0.12–0.24) — a separate, compressible group.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The adjacency is real: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banded error-coupling graph over the residual stream → rank allocation is a </a:t>
            </a:r>
            <a:r>
              <a:rPr sz="1300" b="1">
                <a:solidFill>
                  <a:srgbClr val="1A1A1A"/>
                </a:solidFill>
                <a:latin typeface="Calibri"/>
              </a:rPr>
              <a:t>joint</a:t>
            </a:r>
            <a:r>
              <a:rPr sz="1300" b="0">
                <a:solidFill>
                  <a:srgbClr val="1A1A1A"/>
                </a:solidFill>
                <a:latin typeface="Calibri"/>
              </a:rPr>
              <a:t> problem, which per-layer greedy methods cannot solve.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3:  Amplification-Aware Allocation Beats FLAT-LLM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Same low-rank primitive, same total budget (</a:t>
            </a:r>
            <a:r>
              <a:rPr sz="1400" b="1">
                <a:solidFill>
                  <a:srgbClr val="2E8B57"/>
                </a:solidFill>
                <a:latin typeface="Calibri"/>
              </a:rPr>
              <a:t>keep 50%</a:t>
            </a:r>
            <a:r>
              <a:rPr sz="1400" b="1">
                <a:solidFill>
                  <a:srgbClr val="1A1A1A"/>
                </a:solidFill>
                <a:latin typeface="Calibri"/>
              </a:rPr>
              <a:t>), Llama-2-7B WikiText perplexity — only the </a:t>
            </a:r>
            <a:r>
              <a:rPr sz="1400" b="1">
                <a:solidFill>
                  <a:srgbClr val="2E8B57"/>
                </a:solidFill>
                <a:latin typeface="Calibri"/>
              </a:rPr>
              <a:t>allocation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differs.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No compression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627632"/>
            <a:ext cx="2528665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98913" y="165506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6.87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0428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Uniform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267712"/>
            <a:ext cx="640080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8" y="22951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17.39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94436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FLAT-LLM  (SOTA)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907791"/>
            <a:ext cx="5359151" cy="420624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9399" y="2935223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14.56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584448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Ours  (amplification-joint)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3547872"/>
            <a:ext cx="5138307" cy="42062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08555" y="3575303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8B57"/>
                </a:solidFill>
                <a:latin typeface="Calibri"/>
              </a:rPr>
              <a:t>13.96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151376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perplexity   (lower = better)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90288"/>
            <a:ext cx="5623560" cy="841248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46304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8B57"/>
                </a:solidFill>
                <a:latin typeface="Calibri"/>
              </a:rPr>
              <a:t>−4.2%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FLAT-LLM  (faithful angular-BI baseline)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590288"/>
            <a:ext cx="5623560" cy="8412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590288"/>
            <a:ext cx="146304" cy="84124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068B5"/>
                </a:solidFill>
                <a:latin typeface="Calibri"/>
              </a:rPr>
              <a:t>−19.7%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Uniform allocation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77840"/>
            <a:ext cx="1143000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577840"/>
            <a:ext cx="146304" cy="8686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50992"/>
            <a:ext cx="10972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A300"/>
                </a:solidFill>
                <a:latin typeface="Calibri"/>
              </a:rPr>
              <a:t>Why we win — the signals disagree:  </a:t>
            </a:r>
            <a:r>
              <a:rPr sz="1200" b="0">
                <a:solidFill>
                  <a:srgbClr val="1A1A1A"/>
                </a:solidFill>
                <a:latin typeface="Calibri"/>
              </a:rPr>
              <a:t>FLAT-LLM's angular BI protects boundary layers (0, 31);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amplification instead protects high-downstream-impact mid-early layers (2–5) and drains the damping tail.  </a:t>
            </a:r>
            <a:r>
              <a:rPr sz="1200" b="1">
                <a:solidFill>
                  <a:srgbClr val="1A1A1A"/>
                </a:solidFill>
                <a:latin typeface="Calibri"/>
              </a:rPr>
              <a:t>Amp captures sensitivity BI misses.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