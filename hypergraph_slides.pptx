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Background:  How SOTA Compresses an LLM (e.g. FLAT-LLM)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Low-rank methods shrink a model by replacing each layer with a </a:t>
            </a:r>
            <a:r>
              <a:rPr sz="1400" b="1">
                <a:solidFill>
                  <a:srgbClr val="0068B5"/>
                </a:solidFill>
                <a:latin typeface="Calibri"/>
              </a:rPr>
              <a:t>smaller approximation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that keeps only its most useful patterns.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30000" cy="107899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07899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What is “rank”, simply?    </a:t>
            </a:r>
            <a:r>
              <a:rPr sz="1300" b="0">
                <a:solidFill>
                  <a:srgbClr val="1A1A1A"/>
                </a:solidFill>
                <a:latin typeface="Calibri"/>
              </a:rPr>
              <a:t>A layer does its job using a number of independent patterns.  </a:t>
            </a:r>
            <a:r>
              <a:rPr sz="1300" b="1">
                <a:solidFill>
                  <a:srgbClr val="1A1A1A"/>
                </a:solidFill>
                <a:latin typeface="Calibri"/>
              </a:rPr>
              <a:t>“Rank” = how many of those patterns we keep.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Keeping fewer patterns (lower rank) makes the layer smaller and faster — like describing a photo with a few broad strokes instead of every pixel.   </a:t>
            </a:r>
            <a:r>
              <a:rPr sz="1300" b="1">
                <a:solidFill>
                  <a:srgbClr val="1A1A1A"/>
                </a:solidFill>
                <a:latin typeface="Calibri"/>
              </a:rPr>
              <a:t>So “how much to compress a layer” = “how many patterns (rank) to keep.”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15184"/>
            <a:ext cx="3685032" cy="22128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615184"/>
            <a:ext cx="3685032" cy="9144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2871215"/>
            <a:ext cx="566928" cy="56692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68B5"/>
                </a:solidFill>
                <a:latin typeface="Calibri"/>
              </a:rPr>
              <a:t>The primitive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Approximate each FFN by a low-rank factor — keep its top patterns (directions). Fewer kept = less compute.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8244" y="2615184"/>
            <a:ext cx="3685032" cy="221284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38244" y="2615184"/>
            <a:ext cx="3685032" cy="9144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9412" y="2871215"/>
            <a:ext cx="566928" cy="56692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9412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4356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9412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A fixed TOTAL rank is shared across all 32 layers. The core question: how much rank does each layer get?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0728" y="2615184"/>
            <a:ext cx="3685032" cy="221284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0728" y="2615184"/>
            <a:ext cx="3685032" cy="914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11896" y="2871215"/>
            <a:ext cx="566928" cy="56692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2889503"/>
            <a:ext cx="566928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889503"/>
            <a:ext cx="267919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0504D"/>
                </a:solidFill>
                <a:latin typeface="Calibri"/>
              </a:rPr>
              <a:t>Allocation — FLAT-LLM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3602736"/>
            <a:ext cx="3282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Score each layer by its block-influence — how much it changes the residual (the angle between what goes in and what comes out). More influence → keep more rank.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074920"/>
            <a:ext cx="11430000" cy="7315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074920"/>
            <a:ext cx="146304" cy="7315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157216"/>
            <a:ext cx="109728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All SOTA low-rank methods (ASVD, SVD-LLM, FLAT-LLM) share this template: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per-layer LOCAL score, with each layer allocated independently.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Low-Rank vs. Other Structured Pruning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Both are “structured” pruning (regular, hardware-friendly shapes) — they differ in </a:t>
            </a:r>
            <a:r>
              <a:rPr sz="1400" b="1">
                <a:solidFill>
                  <a:srgbClr val="0068B5"/>
                </a:solidFill>
                <a:latin typeface="Calibri"/>
              </a:rPr>
              <a:t>what they keep.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5623560" cy="184708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46304" cy="1847088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A300"/>
                </a:solidFill>
                <a:latin typeface="Calibri"/>
              </a:rPr>
              <a:t>Remove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Delete whole </a:t>
            </a:r>
            <a:r>
              <a:rPr sz="1300" b="1">
                <a:solidFill>
                  <a:srgbClr val="1A1A1A"/>
                </a:solidFill>
                <a:latin typeface="Calibri"/>
              </a:rPr>
              <a:t>channels, attention heads, or blocks</a:t>
            </a:r>
            <a:r>
              <a:rPr sz="1300" b="0">
                <a:solidFill>
                  <a:srgbClr val="525252"/>
                </a:solidFill>
                <a:latin typeface="Calibri"/>
              </a:rPr>
              <a:t>.  The units left behind are the originals, unchanged.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7977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A300"/>
                </a:solidFill>
                <a:latin typeface="Calibri"/>
              </a:rPr>
              <a:t>‹ the ViT channel / block pruning earlier in this talk 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371600"/>
            <a:ext cx="5623560" cy="184708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371600"/>
            <a:ext cx="146304" cy="184708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68B5"/>
                </a:solidFill>
                <a:latin typeface="Calibri"/>
              </a:rPr>
              <a:t>Reduce rank   (these methods)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Keep no clean subset.  Replace a weight matrix  </a:t>
            </a:r>
            <a:r>
              <a:rPr sz="1300" b="1">
                <a:solidFill>
                  <a:srgbClr val="1A1A1A"/>
                </a:solidFill>
                <a:latin typeface="Calibri"/>
              </a:rPr>
              <a:t>W ≈ A · B</a:t>
            </a:r>
            <a:r>
              <a:rPr sz="1300" b="0">
                <a:solidFill>
                  <a:srgbClr val="525252"/>
                </a:solidFill>
                <a:latin typeface="Calibri"/>
              </a:rPr>
              <a:t>  with two smaller matrices — keeping a low-dimensional </a:t>
            </a:r>
            <a:r>
              <a:rPr sz="1300" b="1">
                <a:solidFill>
                  <a:srgbClr val="1A1A1A"/>
                </a:solidFill>
                <a:latin typeface="Calibri"/>
              </a:rPr>
              <a:t>rotated subspace</a:t>
            </a:r>
            <a:r>
              <a:rPr sz="1300" b="0">
                <a:solidFill>
                  <a:srgbClr val="525252"/>
                </a:solidFill>
                <a:latin typeface="Calibri"/>
              </a:rPr>
              <a:t> (mixtures of neurons).   “Rank” = the inner size.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64992"/>
            <a:ext cx="11430000" cy="1207008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364992"/>
            <a:ext cx="146304" cy="120700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456432"/>
            <a:ext cx="1097280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0504D"/>
                </a:solidFill>
                <a:latin typeface="Calibri"/>
              </a:rPr>
              <a:t>The weakness both share:  </a:t>
            </a:r>
            <a:r>
              <a:rPr sz="1300" b="0">
                <a:solidFill>
                  <a:srgbClr val="1A1A1A"/>
                </a:solidFill>
                <a:latin typeface="Calibri"/>
              </a:rPr>
              <a:t>either way, the method decides </a:t>
            </a:r>
            <a:r>
              <a:rPr sz="1300" b="1">
                <a:solidFill>
                  <a:srgbClr val="1A1A1A"/>
                </a:solidFill>
                <a:latin typeface="Calibri"/>
              </a:rPr>
              <a:t>per layer how much to cut</a:t>
            </a:r>
            <a:r>
              <a:rPr sz="1300" b="0">
                <a:solidFill>
                  <a:srgbClr val="1A1A1A"/>
                </a:solidFill>
                <a:latin typeface="Calibri"/>
              </a:rPr>
              <a:t>, from a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score (importance / reconstruction at that layer alone).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It is blind to how an </a:t>
            </a:r>
            <a:r>
              <a:rPr sz="1300" b="1">
                <a:solidFill>
                  <a:srgbClr val="C0504D"/>
                </a:solidFill>
                <a:latin typeface="Calibri"/>
              </a:rPr>
              <a:t>early layer's error amplifies downstream</a:t>
            </a:r>
            <a:r>
              <a:rPr sz="1300" b="0">
                <a:solidFill>
                  <a:srgbClr val="525252"/>
                </a:solidFill>
                <a:latin typeface="Calibri"/>
              </a:rPr>
              <a:t> (~30× by the output) — the chain is ignored.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718304"/>
            <a:ext cx="11430000" cy="132588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18304"/>
            <a:ext cx="146304" cy="13258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09744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Our approach:  </a:t>
            </a:r>
            <a:r>
              <a:rPr sz="1300" b="0">
                <a:solidFill>
                  <a:srgbClr val="1A1A1A"/>
                </a:solidFill>
                <a:latin typeface="Calibri"/>
              </a:rPr>
              <a:t>allocate rank by </a:t>
            </a:r>
            <a:r>
              <a:rPr sz="1300" b="1">
                <a:solidFill>
                  <a:srgbClr val="2E8B57"/>
                </a:solidFill>
                <a:latin typeface="Calibri"/>
              </a:rPr>
              <a:t>downstream amplification</a:t>
            </a:r>
            <a:r>
              <a:rPr sz="1300" b="0">
                <a:solidFill>
                  <a:srgbClr val="1A1A1A"/>
                </a:solidFill>
                <a:latin typeface="Calibri"/>
              </a:rPr>
              <a:t> and </a:t>
            </a:r>
            <a:r>
              <a:rPr sz="1300" b="1">
                <a:solidFill>
                  <a:srgbClr val="2E8B57"/>
                </a:solidFill>
                <a:latin typeface="Calibri"/>
              </a:rPr>
              <a:t>cross-layer coupling</a:t>
            </a:r>
            <a:r>
              <a:rPr sz="1300" b="0">
                <a:solidFill>
                  <a:srgbClr val="1A1A1A"/>
                </a:solidFill>
                <a:latin typeface="Calibri"/>
              </a:rPr>
              <a:t>, not a purely local per-layer score.</a:t>
            </a:r>
          </a:p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Protect layers whose errors blow up; compress hard where they damp.   </a:t>
            </a:r>
            <a:r>
              <a:rPr sz="1300" b="1">
                <a:solidFill>
                  <a:srgbClr val="1A1A1A"/>
                </a:solidFill>
                <a:latin typeface="Calibri"/>
              </a:rPr>
              <a:t>Empirically: beats FLAT-LLM at the same budget (next slide).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1:  Compression Error Amplifies with Depth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A layer's </a:t>
            </a:r>
            <a:r>
              <a:rPr sz="1400" b="1">
                <a:solidFill>
                  <a:srgbClr val="C0504D"/>
                </a:solidFill>
                <a:latin typeface="Calibri"/>
              </a:rPr>
              <a:t>local</a:t>
            </a:r>
            <a:r>
              <a:rPr sz="1400" b="1">
                <a:solidFill>
                  <a:srgbClr val="1A1A1A"/>
                </a:solidFill>
                <a:latin typeface="Calibri"/>
              </a:rPr>
              <a:t> error is not its true cost — it propagates to the output, and the amplification depends on depth.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89888"/>
            <a:ext cx="11430000" cy="512064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53896"/>
            <a:ext cx="110642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68B5"/>
                </a:solidFill>
                <a:latin typeface="Calibri"/>
              </a:rPr>
              <a:t>Probe:  </a:t>
            </a:r>
            <a:r>
              <a:rPr sz="1200" b="0">
                <a:solidFill>
                  <a:srgbClr val="525252"/>
                </a:solidFill>
                <a:latin typeface="Calibri"/>
              </a:rPr>
              <a:t>rank-truncate ONE layer's FFN, measure  </a:t>
            </a:r>
            <a:r>
              <a:rPr sz="1200" b="1">
                <a:solidFill>
                  <a:srgbClr val="1A1A1A"/>
                </a:solidFill>
                <a:latin typeface="Calibri"/>
              </a:rPr>
              <a:t>Δ output ÷ Δ local</a:t>
            </a:r>
            <a:r>
              <a:rPr sz="1200" b="0">
                <a:solidFill>
                  <a:srgbClr val="525252"/>
                </a:solidFill>
                <a:latin typeface="Calibri"/>
              </a:rPr>
              <a:t>  = how much its error blows up by the time it reaches the logits.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86000"/>
            <a:ext cx="960120" cy="233172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30.8×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2753189"/>
            <a:ext cx="960120" cy="1864530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246058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14.9×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2819977"/>
            <a:ext cx="960120" cy="1797742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52736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13.4×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3366553"/>
            <a:ext cx="960120" cy="125116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3073945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504D"/>
                </a:solidFill>
                <a:latin typeface="Calibri"/>
              </a:rPr>
              <a:t>5.4×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877242"/>
            <a:ext cx="960120" cy="740477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584634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2.0×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0" y="3923744"/>
            <a:ext cx="960120" cy="693975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363113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A300"/>
                </a:solidFill>
                <a:latin typeface="Calibri"/>
              </a:rPr>
              <a:t>1.8×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4086290"/>
            <a:ext cx="960120" cy="53142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379368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1.2×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L24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260070"/>
            <a:ext cx="960120" cy="357649"/>
          </a:xfrm>
          <a:prstGeom prst="round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60" y="3967462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68B5"/>
                </a:solidFill>
                <a:latin typeface="Calibri"/>
              </a:rPr>
              <a:t>0.7×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4672583"/>
            <a:ext cx="1325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25252"/>
                </a:solidFill>
                <a:latin typeface="Calibri"/>
              </a:rPr>
              <a:t>L31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956048"/>
            <a:ext cx="6400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amplification = Δe2e ÷ Δlocal   (log scale; L0 = nearest input)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956048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0504D"/>
                </a:solidFill>
                <a:latin typeface="Calibri"/>
              </a:rPr>
              <a:t>early → amplify ~30×    </a:t>
            </a:r>
            <a:r>
              <a:rPr sz="1100" b="1">
                <a:solidFill>
                  <a:srgbClr val="0068B5"/>
                </a:solidFill>
                <a:latin typeface="Calibri"/>
              </a:rPr>
              <a:t>late → damp &lt;1×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C0504D"/>
                </a:solidFill>
                <a:latin typeface="Calibri"/>
              </a:rPr>
              <a:t>Implication:  </a:t>
            </a:r>
            <a:r>
              <a:rPr sz="1300" b="0">
                <a:solidFill>
                  <a:srgbClr val="1A1A1A"/>
                </a:solidFill>
                <a:latin typeface="Calibri"/>
              </a:rPr>
              <a:t>the true cost of compressing a layer varies ~43× by depth.  Methods that allocate rank by </a:t>
            </a:r>
            <a:r>
              <a:rPr sz="1300" b="1">
                <a:solidFill>
                  <a:srgbClr val="1A1A1A"/>
                </a:solidFill>
                <a:latin typeface="Calibri"/>
              </a:rPr>
              <a:t>local</a:t>
            </a:r>
            <a:r>
              <a:rPr sz="1300" b="0">
                <a:solidFill>
                  <a:srgbClr val="1A1A1A"/>
                </a:solidFill>
                <a:latin typeface="Calibri"/>
              </a:rPr>
              <a:t> error (FLAT-LLM, ASVD, SVD-LLM) optimize the wrong quantity.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2:  Layer Errors Couple — a Graph, Not Just a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Do layers' compression errors </a:t>
            </a:r>
            <a:r>
              <a:rPr sz="1400" b="1">
                <a:solidFill>
                  <a:srgbClr val="0068B5"/>
                </a:solidFill>
                <a:latin typeface="Calibri"/>
              </a:rPr>
              <a:t>interact</a:t>
            </a:r>
            <a:r>
              <a:rPr sz="1400" b="1">
                <a:solidFill>
                  <a:srgbClr val="1A1A1A"/>
                </a:solidFill>
                <a:latin typeface="Calibri"/>
              </a:rPr>
              <a:t>?  If so, rank must be allocated jointly, not greedily per-layer.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44752"/>
            <a:ext cx="1143000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146304" cy="118872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719072"/>
            <a:ext cx="658368" cy="658368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59105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A300"/>
                </a:solidFill>
                <a:latin typeface="Calibri"/>
              </a:rPr>
              <a:t>Errors are non-additive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1993392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Compressing two layers together ≠ sum of each alone.  Interaction (mean 0.60) is large — joint effects matter.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761488"/>
            <a:ext cx="1143000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761488"/>
            <a:ext cx="146304" cy="118872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3035808"/>
            <a:ext cx="658368" cy="658368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063240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|cos|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45336" y="29077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68B5"/>
                </a:solidFill>
                <a:latin typeface="Calibri"/>
              </a:rPr>
              <a:t>Coupling is local (banded)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5336" y="3310128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Error directions align for nearby layers, decay with distance:  adjacent 0.46  ›  distant 0.28.  A banded graph.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078224"/>
            <a:ext cx="11430000" cy="118872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078224"/>
            <a:ext cx="146304" cy="11887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512" y="4352544"/>
            <a:ext cx="658368" cy="658368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379976"/>
            <a:ext cx="78638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28–31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5336" y="422452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0504D"/>
                </a:solidFill>
                <a:latin typeface="Calibri"/>
              </a:rPr>
              <a:t>The tail decouples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45336" y="4626864"/>
            <a:ext cx="9966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25252"/>
                </a:solidFill>
                <a:latin typeface="Calibri"/>
              </a:rPr>
              <a:t>The final block is weakly coupled to all others (|cos| 0.12–0.24) — a separate, compressible group.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806440"/>
            <a:ext cx="11430000" cy="713232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46304" cy="7132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879592"/>
            <a:ext cx="1097280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The adjacency is real:  </a:t>
            </a:r>
            <a:r>
              <a:rPr sz="1300" b="0">
                <a:solidFill>
                  <a:srgbClr val="1A1A1A"/>
                </a:solidFill>
                <a:latin typeface="Calibri"/>
              </a:rPr>
              <a:t>a banded error-coupling graph over the residual stream → rank allocation is a </a:t>
            </a:r>
            <a:r>
              <a:rPr sz="1300" b="1">
                <a:solidFill>
                  <a:srgbClr val="1A1A1A"/>
                </a:solidFill>
                <a:latin typeface="Calibri"/>
              </a:rPr>
              <a:t>joint</a:t>
            </a:r>
            <a:r>
              <a:rPr sz="1300" b="0">
                <a:solidFill>
                  <a:srgbClr val="1A1A1A"/>
                </a:solidFill>
                <a:latin typeface="Calibri"/>
              </a:rPr>
              <a:t> problem, which per-layer greedy methods cannot solve.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Finding 3:  Amplification-Aware Allocation Beats FLAT-LLM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27432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Calibri"/>
              </a:rPr>
              <a:t>Same low-rank primitive, same total budget (</a:t>
            </a:r>
            <a:r>
              <a:rPr sz="1400" b="1">
                <a:solidFill>
                  <a:srgbClr val="2E8B57"/>
                </a:solidFill>
                <a:latin typeface="Calibri"/>
              </a:rPr>
              <a:t>keep 50%</a:t>
            </a:r>
            <a:r>
              <a:rPr sz="1400" b="1">
                <a:solidFill>
                  <a:srgbClr val="1A1A1A"/>
                </a:solidFill>
                <a:latin typeface="Calibri"/>
              </a:rPr>
              <a:t>), Llama-2-7B WikiText perplexity — only the </a:t>
            </a:r>
            <a:r>
              <a:rPr sz="1400" b="1">
                <a:solidFill>
                  <a:srgbClr val="2E8B57"/>
                </a:solidFill>
                <a:latin typeface="Calibri"/>
              </a:rPr>
              <a:t>allocation</a:t>
            </a:r>
            <a:r>
              <a:rPr sz="1400" b="1">
                <a:solidFill>
                  <a:srgbClr val="1A1A1A"/>
                </a:solidFill>
                <a:latin typeface="Calibri"/>
              </a:rPr>
              <a:t> differs.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00200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No compression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the full, uncompressed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645920"/>
            <a:ext cx="238417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20178" y="168249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6.87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258568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525252"/>
                </a:solidFill>
                <a:latin typeface="Calibri"/>
              </a:rPr>
              <a:t>Uniform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every layer gets the SAME rank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304288"/>
            <a:ext cx="6035040" cy="420624"/>
          </a:xfrm>
          <a:prstGeom prst="roundRect">
            <a:avLst/>
          </a:prstGeom>
          <a:solidFill>
            <a:srgbClr val="9E9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71048" y="234086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E9E9E"/>
                </a:solidFill>
                <a:latin typeface="Calibri"/>
              </a:rPr>
              <a:t>17.39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916936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FLAT-LLM (SOTA)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rank set by block-influence 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962656"/>
            <a:ext cx="5052914" cy="420624"/>
          </a:xfrm>
          <a:prstGeom prst="round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88922" y="2999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A300"/>
                </a:solidFill>
                <a:latin typeface="Calibri"/>
              </a:rPr>
              <a:t>14.56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575304"/>
            <a:ext cx="4069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400" b="1">
                <a:solidFill>
                  <a:srgbClr val="1A1A1A"/>
                </a:solidFill>
                <a:latin typeface="Calibri"/>
              </a:rPr>
              <a:t>Ours</a:t>
            </a:r>
          </a:p>
          <a:p>
            <a:pPr algn="r"/>
            <a:r>
              <a:rPr sz="1000" b="0">
                <a:solidFill>
                  <a:srgbClr val="525252"/>
                </a:solidFill>
                <a:latin typeface="Calibri"/>
              </a:rPr>
              <a:t>more rank to high-amplification layers, jointly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3621024"/>
            <a:ext cx="4844689" cy="42062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80697" y="3657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8B57"/>
                </a:solidFill>
                <a:latin typeface="Calibri"/>
              </a:rPr>
              <a:t>13.96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6110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25252"/>
                </a:solidFill>
                <a:latin typeface="Calibri"/>
              </a:rPr>
              <a:t>perplexity   (lower = better)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590288"/>
            <a:ext cx="5623560" cy="841248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46304" cy="8412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E8B57"/>
                </a:solidFill>
                <a:latin typeface="Calibri"/>
              </a:rPr>
              <a:t>−4.2%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FLAT-LLM  (faithful angular-BI baseline)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590288"/>
            <a:ext cx="5623560" cy="84124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4590288"/>
            <a:ext cx="146304" cy="841248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672584"/>
            <a:ext cx="52120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068B5"/>
                </a:solidFill>
                <a:latin typeface="Calibri"/>
              </a:rPr>
              <a:t>−19.7%</a:t>
            </a:r>
          </a:p>
          <a:p>
            <a:pPr algn="l"/>
            <a:r>
              <a:rPr sz="1200" b="0">
                <a:solidFill>
                  <a:srgbClr val="525252"/>
                </a:solidFill>
                <a:latin typeface="Calibri"/>
              </a:rPr>
              <a:t>vs Uniform allocation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77840"/>
            <a:ext cx="11430000" cy="8686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577840"/>
            <a:ext cx="146304" cy="8686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50992"/>
            <a:ext cx="10972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A300"/>
                </a:solidFill>
                <a:latin typeface="Calibri"/>
              </a:rPr>
              <a:t>Why we win — the signals disagree:  </a:t>
            </a:r>
            <a:r>
              <a:rPr sz="1200" b="0">
                <a:solidFill>
                  <a:srgbClr val="1A1A1A"/>
                </a:solidFill>
                <a:latin typeface="Calibri"/>
              </a:rPr>
              <a:t>FLAT-LLM's block-influence (how much a layer rotates the residual) favors boundary layers 0 &amp; 31;</a:t>
            </a:r>
          </a:p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amplification instead protects high-downstream-impact mid-early layers (2–5) and drains the damping tail.  </a:t>
            </a:r>
            <a:r>
              <a:rPr sz="1200" b="1">
                <a:solidFill>
                  <a:srgbClr val="1A1A1A"/>
                </a:solidFill>
                <a:latin typeface="Calibri"/>
              </a:rPr>
              <a:t>Amp captures sensitivity BI misses.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