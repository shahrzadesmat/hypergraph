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00000"/>
            <a:ext cx="110642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Typed Pruning Hypergraph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60000"/>
            <a:ext cx="1106424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BBEDF"/>
                </a:solidFill>
                <a:latin typeface="Calibri"/>
              </a:rPr>
              <a:t>Deciding what to prune by structure, importance, and coupling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330000"/>
            <a:ext cx="6309360" cy="304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 pretrained Vision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Transformer (DeiT-Small)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task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Cut its compute by ~45%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with minimal accuracy 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question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WHICH parts to remove,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DEE"/>
                </a:solidFill>
                <a:latin typeface="Calibri"/>
              </a:rPr>
              <a:t>Shahrzad Esmat   ·   Iowa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A300"/>
                </a:solidFill>
                <a:latin typeface="Calibri"/>
              </a:rPr>
              <a:t>We generalize Isomorphic Pruning (Fang et al.) with a typed dependency 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Background: How Do We Decide What to Prune?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Network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Local Pruning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0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545760" y="1600000"/>
            <a:ext cx="0" cy="390000"/>
          </a:xfrm>
          <a:prstGeom prst="bentConnector3">
            <a:avLst/>
          </a:prstGeom>
          <a:ln w="15875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80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545760" y="2220000"/>
            <a:ext cx="0" cy="39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80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5760" y="2800000"/>
            <a:ext cx="51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545760" y="2840000"/>
            <a:ext cx="0" cy="39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0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5760" y="3420000"/>
            <a:ext cx="510000" cy="47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545760" y="3460000"/>
            <a:ext cx="0" cy="390000"/>
          </a:xfrm>
          <a:prstGeom prst="bentConnector3">
            <a:avLst/>
          </a:prstGeom>
          <a:ln w="15875">
            <a:solidFill>
              <a:srgbClr val="FF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0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rank within each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Global Pruning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8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5760" y="218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8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5760" y="280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8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545760" y="1560000"/>
            <a:ext cx="0" cy="2330000"/>
          </a:xfrm>
          <a:prstGeom prst="bentConnector3">
            <a:avLst/>
          </a:prstGeom>
          <a:ln w="19050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8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68B5"/>
                </a:solidFill>
                <a:latin typeface="Calibri"/>
              </a:rPr>
              <a:t>one global ranking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Isomorphic (grouped)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76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5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5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76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55760" y="280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6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5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5760" y="393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1A"/>
                </a:solidFill>
                <a:latin typeface="Calibri"/>
              </a:rPr>
              <a:t>group by structure type,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FFA300"/>
                </a:solidFill>
                <a:latin typeface="Calibri"/>
              </a:rPr>
              <a:t>rank within each group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098000"/>
            <a:ext cx="1143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Comparing importance across different structure types is unfair (different scales). Isomorphic pruning groups parameters by structural type and ranks WITHIN each group.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Isomorphic Pruning: One Ratio Per Structure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8B5"/>
                </a:solidFill>
                <a:latin typeface="Calibri"/>
              </a:rPr>
              <a:t>The baseline we build on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Two structure types, each pruned by ONE ratio: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Attention — shrink head_dim inside each head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MLP — shrink the hidden dimension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Every one of the 12 blocks gets the SAME ratio.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The residual stream (embed dim) is never cut —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only the internals of each block shrink.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Simple and effective — but it treats a critical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block exactly like a redundant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identical treatment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0000" y="13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400" y="13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2000" y="13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1600" y="13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0000" y="14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0  ·  Attn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2000" y="14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0000" y="17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400" y="17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000" y="17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911600" y="17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0000" y="18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  ·  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2000" y="18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0000" y="220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400" y="220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2000" y="220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11600" y="220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0000" y="225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2  ·  Attn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2000" y="225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0000" y="261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400" y="261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2000" y="261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11600" y="261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0000" y="266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3  ·  Attn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2000" y="266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00000" y="302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52400" y="302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2000" y="302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11600" y="302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0000" y="307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4  ·  Attn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2000" y="307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00000" y="343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400" y="343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72000" y="343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11600" y="343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0000" y="348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5  ·  Attn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2000" y="348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0000" y="384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52400" y="384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72000" y="384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11600" y="384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0000" y="389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6  ·  Attn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2000" y="389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00000" y="425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400" y="425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72000" y="425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11600" y="425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0000" y="430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7  · 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2000" y="430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0000" y="466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452400" y="466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72000" y="466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911600" y="466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60000" y="471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8  ·  Attn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2000" y="471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0000" y="507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52400" y="507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72000" y="507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911600" y="507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60000" y="512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9  ·  Attn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2000" y="512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00000" y="54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400" y="54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72000" y="54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911600" y="54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0000" y="55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10  ·  Attn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2000" y="55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0000" y="58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52400" y="58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2000" y="58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911600" y="58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60000" y="59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11  ·  Attn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2000" y="59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0000" y="632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blue / orange = pruned portion — same fraction in every block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What Uniform Pruning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0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One ratio for every block cannot express three real differences between blocks: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60000"/>
            <a:ext cx="11430000" cy="143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60000"/>
            <a:ext cx="150000" cy="143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760" y="1735000"/>
            <a:ext cx="680000" cy="68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760" y="179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760" y="147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0504D"/>
                </a:solidFill>
                <a:latin typeface="Calibri"/>
              </a:rPr>
              <a:t>Some blocks are nearly dead weight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Block sensitivity (output change when a block is bypassed) varies widely —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a few blocks are close to identity, yet uniform pruning still keeps and shrinks them,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spending MAC budget on blocks that contribute almost nothing.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760" y="249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0504D"/>
                </a:solidFill>
                <a:latin typeface="Calibri"/>
              </a:rPr>
              <a:t>isomorphic: depth ignored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5760" y="151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5760" y="159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C0504D"/>
                </a:solidFill>
                <a:latin typeface="Calibri"/>
              </a:rPr>
              <a:t>→  S_min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remove them entirely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40000"/>
            <a:ext cx="11430000" cy="143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940000"/>
            <a:ext cx="150000" cy="14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5760" y="3315000"/>
            <a:ext cx="680000" cy="680000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760" y="337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5760" y="305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A300"/>
                </a:solidFill>
                <a:latin typeface="Calibri"/>
              </a:rPr>
              <a:t>Blocks are not equally important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Taylor importance (|grad × weight|) differs block-to-block. One global ratio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over-prunes the critical blocks (accuracy drops) and under-prunes the redundant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ones (budget wasted) — the cut lands in exactly the wrong places.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5760" y="407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A300"/>
                </a:solidFill>
                <a:latin typeface="Calibri"/>
              </a:rPr>
              <a:t>isomorphic: width is flat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60" y="309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5760" y="317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FFA300"/>
                </a:solidFill>
                <a:latin typeface="Calibri"/>
              </a:rPr>
              <a:t>→  θ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per-group ratios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20000"/>
            <a:ext cx="11430000" cy="143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520000"/>
            <a:ext cx="150000" cy="143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5760" y="4895000"/>
            <a:ext cx="680000" cy="68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760" y="495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45760" y="463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8B5"/>
                </a:solidFill>
                <a:latin typeface="Calibri"/>
              </a:rPr>
              <a:t>Block importances are not independent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Some blocks rise and fall in importance together (their scores are correlated).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Pruning each block in isolation ignores that a surviving block may depend on a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neighbour you just pruned — the decisions should inform each other.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45760" y="565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68B5"/>
                </a:solidFill>
                <a:latin typeface="Calibri"/>
              </a:rPr>
              <a:t>isomorphic: coupling ignored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25760" y="467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8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5760" y="475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0068B5"/>
                </a:solidFill>
                <a:latin typeface="Calibri"/>
              </a:rPr>
              <a:t>→  α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functional edges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Method in the Same View: Extending Isomorphic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Pretrained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5760" y="281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5760" y="291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all blocks kept,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one uniform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+ S_min  (depth)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80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95760" y="1560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95760" y="218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0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0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0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5760" y="343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B2 removed entirely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(S &lt; S_min)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+ θ  (groups)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78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7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7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6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2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groups → own ratio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green r↓ , red r↑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+ α  (coupling)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976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15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0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0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6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15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0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0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6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6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6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4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0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0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1465760" y="1790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585760" y="1790000"/>
            <a:ext cx="0" cy="625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465760" y="2415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1615760" y="19925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couple same group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B0–B1  (edge E_f)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218000"/>
            <a:ext cx="1143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Same column view as the field's — but each step here is OUR addition. Turn all three off (no removal, one group, no edges) → back to isomorphic pruning.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Pruning: Depth + Per-Group Width + Coupling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300"/>
                </a:solidFill>
                <a:latin typeface="Calibri"/>
              </a:rPr>
              <a:t>Heterogeneous by design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Same two structure types (Attn, MLP), but the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ratio now varies block-to-block: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C0504D"/>
                </a:solidFill>
                <a:latin typeface="Calibri"/>
              </a:rPr>
              <a:t>• S_min — remove low-sensitivity blocks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(here blocks 3, 4, 5 are deleted)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70AD47"/>
                </a:solidFill>
                <a:latin typeface="Calibri"/>
              </a:rPr>
              <a:t>• θ — each importance group its own ratio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green = important → pruned less (thin slice)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red = redundant → pruned more (thick slice)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FFA300"/>
                </a:solidFill>
                <a:latin typeface="Calibri"/>
              </a:rPr>
              <a:t>• α — functional edges couple similar blocks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Residual stream (embed dim) still never cut —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only block internals shrink, just like isomorphic.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FFA300"/>
                </a:solidFill>
                <a:latin typeface="Calibri"/>
              </a:rPr>
              <a:t>Same MAC budget — spent where it costs least.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treated by importance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10000" y="1350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00000" y="135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70800" y="1350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5000" y="135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13500" y="1350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0000" y="139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0 · Attn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5000" y="139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10000" y="170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00000" y="170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70800" y="170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5000" y="170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13500" y="170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0000" y="174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 · Attn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5000" y="174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10000" y="2062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0000" y="206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70800" y="2062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5000" y="206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13500" y="2062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0000" y="210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2 · Attn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5000" y="210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00000" y="2418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000" y="2448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3   ✕ removed  (S &lt; S_min)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0000" y="2774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000" y="2804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4   ✕ removed  (S &lt; S_min)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0000" y="3130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000" y="3160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5   ✕ removed  (S &lt; S_min)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000" y="3486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00000" y="348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49500" y="3486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25000" y="348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16250" y="3486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0000" y="352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6 · Attn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5000" y="352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10000" y="3842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00000" y="384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49500" y="3842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25000" y="384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16250" y="3842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0000" y="388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7 · Attn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75000" y="388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10000" y="4198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00000" y="4198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49500" y="4198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25000" y="4198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16250" y="4198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50000" y="4238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8 ·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5000" y="4238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10000" y="4554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0000" y="4554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49500" y="4554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25000" y="4554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016250" y="4554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50000" y="4594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9 · Attn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75000" y="4594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0000" y="4910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00000" y="491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349500" y="4910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925000" y="491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16250" y="4910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50000" y="495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10 · Attn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75000" y="495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10000" y="526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00000" y="526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70800" y="526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25000" y="526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913500" y="526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50000" y="530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11 · Attn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75000" y="530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350000" y="1500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480000" y="1500000"/>
            <a:ext cx="0" cy="356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10350000" y="1856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510000" y="15680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00000" y="5642000"/>
            <a:ext cx="58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thin slice = pruned less (green) · thick slice = pruned more (red) · grey = removed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Key Difference: VainF's Graph  vs  Our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40000"/>
            <a:ext cx="5610240" cy="3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Isomorphic Pruning (VainF)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576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84250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1925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5760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76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12" name="Oval 11"/>
          <p:cNvSpPr/>
          <p:nvPr/>
        </p:nvSpPr>
        <p:spPr>
          <a:xfrm>
            <a:off x="2022506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250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14" name="Oval 13"/>
          <p:cNvSpPr/>
          <p:nvPr/>
        </p:nvSpPr>
        <p:spPr>
          <a:xfrm>
            <a:off x="3499252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9252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2</a:t>
            </a:r>
          </a:p>
        </p:txBody>
      </p:sp>
      <p:sp>
        <p:nvSpPr>
          <p:cNvPr id="16" name="Oval 15"/>
          <p:cNvSpPr/>
          <p:nvPr/>
        </p:nvSpPr>
        <p:spPr>
          <a:xfrm>
            <a:off x="4975998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599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Blocks pruned in isolation · one ratio per type · all kept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6000" y="1040000"/>
            <a:ext cx="5610240" cy="3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600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Our Typed Hypergraph  H = (V', E_s, E_f)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1600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9274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949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06000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06000" y="1510000"/>
            <a:ext cx="4430238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36238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282746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282746" y="1720000"/>
            <a:ext cx="2953492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236238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396000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600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32" name="Oval 31"/>
          <p:cNvSpPr/>
          <p:nvPr/>
        </p:nvSpPr>
        <p:spPr>
          <a:xfrm>
            <a:off x="7872746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7274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34" name="Oval 33"/>
          <p:cNvSpPr/>
          <p:nvPr/>
        </p:nvSpPr>
        <p:spPr>
          <a:xfrm>
            <a:off x="9349492" y="1980000"/>
            <a:ext cx="820000" cy="820000"/>
          </a:xfrm>
          <a:prstGeom prst="ellipse">
            <a:avLst/>
          </a:prstGeom>
          <a:solidFill>
            <a:srgbClr val="EDEDED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9492" y="2170000"/>
            <a:ext cx="8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9492" y="2840000"/>
            <a:ext cx="9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0504D"/>
                </a:solidFill>
                <a:latin typeface="Calibri"/>
              </a:rPr>
              <a:t>removed</a:t>
            </a:r>
          </a:p>
        </p:txBody>
      </p:sp>
      <p:sp>
        <p:nvSpPr>
          <p:cNvPr id="37" name="Oval 36"/>
          <p:cNvSpPr/>
          <p:nvPr/>
        </p:nvSpPr>
        <p:spPr>
          <a:xfrm>
            <a:off x="10826238" y="1980000"/>
            <a:ext cx="820000" cy="8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2623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600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S_min removes a block · θ colors groups · α adds w_ij edges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20000"/>
            <a:ext cx="11430000" cy="11800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620000"/>
            <a:ext cx="762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5760" y="3660000"/>
            <a:ext cx="110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8B5"/>
                </a:solidFill>
                <a:latin typeface="Calibri"/>
              </a:rPr>
              <a:t>How to read the graph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5760" y="4060000"/>
            <a:ext cx="520000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65760" y="393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Residual stream  —  </a:t>
            </a:r>
            <a:r>
              <a:rPr sz="1300">
                <a:solidFill>
                  <a:srgbClr val="525252"/>
                </a:solidFill>
                <a:latin typeface="Calibri"/>
              </a:rPr>
              <a:t>data flowing from one block to the next  (both methods)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5760" y="425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5760" y="425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5760" y="425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65760" y="420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E_s  Structural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weights INSIDE one block that must be cut together (qkv·proj·mlp)  —  both methods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5760" y="4600000"/>
            <a:ext cx="52000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265760" y="447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300"/>
                </a:solidFill>
                <a:latin typeface="Calibri"/>
              </a:rPr>
              <a:t>E_f  Functional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links TWO blocks with similar importance; lets importance flow between them  —  NEW (ours)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6388000"/>
            <a:ext cx="11430000" cy="33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5760" y="6388000"/>
            <a:ext cx="120000" cy="3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5760" y="6428000"/>
            <a:ext cx="109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Same structural edges as VainF  +  block removal (V')  +  functional edges (E_f).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Three Parameters, Defined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0" y="1020000"/>
            <a:ext cx="3700000" cy="36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6000" y="1020000"/>
            <a:ext cx="3700000" cy="1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Calibri"/>
              </a:rPr>
              <a:t>S_min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depth-pruning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504D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 threshold on block sensitivity — how much the output changes when a block is skipped.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000" y="2900000"/>
            <a:ext cx="3380000" cy="620000"/>
          </a:xfrm>
          <a:prstGeom prst="rect">
            <a:avLst/>
          </a:prstGeom>
          <a:solidFill>
            <a:srgbClr val="F7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C0504D"/>
                </a:solidFill>
                <a:latin typeface="Calibri"/>
              </a:rPr>
              <a:t>S(i) = mean ‖f(x) − f_bypass(x)‖ / ‖f(x)‖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C0504D"/>
                </a:solidFill>
                <a:latin typeface="Calibri"/>
              </a:rPr>
              <a:t>remove block i  if  S(i) &lt; S_min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shrinks the node set V′ — redundant blocks are deleted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000" y="1020000"/>
            <a:ext cx="3700000" cy="36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000" y="1020000"/>
            <a:ext cx="3700000" cy="14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8B5"/>
                </a:solidFill>
                <a:latin typeface="Calibri"/>
              </a:rPr>
              <a:t>θ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grouping threshold (theta)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8B5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Blocks with similar importance are merged into one group; each group gets its own ratio.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000" y="2900000"/>
            <a:ext cx="3380000" cy="620000"/>
          </a:xfrm>
          <a:prstGeom prst="rect">
            <a:avLst/>
          </a:prstGeom>
          <a:solidFill>
            <a:srgbClr val="C9D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68B5"/>
                </a:solidFill>
                <a:latin typeface="Calibri"/>
              </a:rPr>
              <a:t>group i, j   if   |Î_i − Î_j| &lt; θ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0068B5"/>
                </a:solidFill>
                <a:latin typeface="Calibri"/>
              </a:rPr>
              <a:t>θ = 1 → one group (uniform);  θ = 0 → all separate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partitions blocks into groups — important groups are pruned 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6000" y="1020000"/>
            <a:ext cx="3700000" cy="36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6000" y="1020000"/>
            <a:ext cx="3700000" cy="14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A300"/>
                </a:solidFill>
                <a:latin typeface="Calibri"/>
              </a:rPr>
              <a:t>α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coupling strength (alpha)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A300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Adds functional edges between blocks of similar importance and lets them boost each other.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6000" y="2900000"/>
            <a:ext cx="3380000" cy="620000"/>
          </a:xfrm>
          <a:prstGeom prst="rect">
            <a:avLst/>
          </a:prstGeom>
          <a:solidFill>
            <a:srgbClr val="FFE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A300"/>
                </a:solidFill>
                <a:latin typeface="Calibri"/>
              </a:rPr>
              <a:t>w_ij = min(I_i, I_j) / max(I_i, I_j)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FFA300"/>
                </a:solidFill>
                <a:latin typeface="Calibri"/>
              </a:rPr>
              <a:t>I↑(j) = I(j) · (1 + α · Σ w_ij·I(i)/Z)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creates E_f — a block's importance rises with its coupled neighbours'.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80000"/>
            <a:ext cx="11430000" cy="68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880000"/>
            <a:ext cx="150000" cy="6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760" y="4950000"/>
            <a:ext cx="109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Set  S_min = 0,  θ = 1,  α = 0  →  exactly Isomorphic Pruning (VainF).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FFA300"/>
                </a:solidFill>
                <a:latin typeface="Calibri"/>
              </a:rPr>
              <a:t>VainF is one corner of our space; the three knobs let us search for a better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Worked Example: Building the Graph, One Component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2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0000"/>
            <a:ext cx="110000" cy="960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5760" y="117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BFBF"/>
                </a:solidFill>
                <a:latin typeface="Calibri"/>
              </a:rPr>
              <a:t>0   Start  =  VainF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All 5 blocks kept · one uniform ratio · no inter-block edges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0576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8588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6600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4612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86576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576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14" name="Oval 13"/>
          <p:cNvSpPr/>
          <p:nvPr/>
        </p:nvSpPr>
        <p:spPr>
          <a:xfrm>
            <a:off x="574588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588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16" name="Oval 15"/>
          <p:cNvSpPr/>
          <p:nvPr/>
        </p:nvSpPr>
        <p:spPr>
          <a:xfrm>
            <a:off x="762600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0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B2</a:t>
            </a:r>
          </a:p>
        </p:txBody>
      </p:sp>
      <p:sp>
        <p:nvSpPr>
          <p:cNvPr id="18" name="Oval 17"/>
          <p:cNvSpPr/>
          <p:nvPr/>
        </p:nvSpPr>
        <p:spPr>
          <a:xfrm>
            <a:off x="950612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612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20" name="Oval 19"/>
          <p:cNvSpPr/>
          <p:nvPr/>
        </p:nvSpPr>
        <p:spPr>
          <a:xfrm>
            <a:off x="1138624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8624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420000"/>
            <a:ext cx="110000" cy="9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760" y="245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504D"/>
                </a:solidFill>
                <a:latin typeface="Calibri"/>
              </a:rPr>
              <a:t>+  S_min = 0.40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B2 has S = 0.35 &lt; 0.40  →  removed entirely  (node set V′ shrinks)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0576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85880" y="297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94612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86576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576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8576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S=.90</a:t>
            </a:r>
          </a:p>
        </p:txBody>
      </p:sp>
      <p:sp>
        <p:nvSpPr>
          <p:cNvPr id="30" name="Oval 29"/>
          <p:cNvSpPr/>
          <p:nvPr/>
        </p:nvSpPr>
        <p:spPr>
          <a:xfrm>
            <a:off x="574588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588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588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S=.85</a:t>
            </a:r>
          </a:p>
        </p:txBody>
      </p:sp>
      <p:sp>
        <p:nvSpPr>
          <p:cNvPr id="33" name="Oval 32"/>
          <p:cNvSpPr/>
          <p:nvPr/>
        </p:nvSpPr>
        <p:spPr>
          <a:xfrm>
            <a:off x="7626000" y="275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26000" y="282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600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0504D"/>
                </a:solidFill>
                <a:latin typeface="Calibri"/>
              </a:rPr>
              <a:t>S=.35</a:t>
            </a:r>
          </a:p>
        </p:txBody>
      </p:sp>
      <p:sp>
        <p:nvSpPr>
          <p:cNvPr id="36" name="Oval 35"/>
          <p:cNvSpPr/>
          <p:nvPr/>
        </p:nvSpPr>
        <p:spPr>
          <a:xfrm>
            <a:off x="950612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612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2612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S=.55</a:t>
            </a:r>
          </a:p>
        </p:txBody>
      </p:sp>
      <p:sp>
        <p:nvSpPr>
          <p:cNvPr id="39" name="Oval 38"/>
          <p:cNvSpPr/>
          <p:nvPr/>
        </p:nvSpPr>
        <p:spPr>
          <a:xfrm>
            <a:off x="1138624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38624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0624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58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3700000"/>
            <a:ext cx="110000" cy="9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5760" y="373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68B5"/>
                </a:solidFill>
                <a:latin typeface="Calibri"/>
              </a:rPr>
              <a:t>+  θ  (grouping)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Group by importance:  {B0,B1} high → r↓ ,   {B3,B4} low → r↑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30576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185880" y="425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94612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65760" y="3880000"/>
            <a:ext cx="2320120" cy="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86576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18588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7582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0AD47"/>
                </a:solidFill>
                <a:latin typeface="Calibri"/>
              </a:rPr>
              <a:t>Group A · r↓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506120" y="3880000"/>
            <a:ext cx="2320120" cy="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50612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82624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91618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504D"/>
                </a:solidFill>
                <a:latin typeface="Calibri"/>
              </a:rPr>
              <a:t>Group B · r↑</a:t>
            </a:r>
          </a:p>
        </p:txBody>
      </p:sp>
      <p:sp>
        <p:nvSpPr>
          <p:cNvPr id="56" name="Oval 55"/>
          <p:cNvSpPr/>
          <p:nvPr/>
        </p:nvSpPr>
        <p:spPr>
          <a:xfrm>
            <a:off x="386576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6576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8576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I=.45</a:t>
            </a:r>
          </a:p>
        </p:txBody>
      </p:sp>
      <p:sp>
        <p:nvSpPr>
          <p:cNvPr id="59" name="Oval 58"/>
          <p:cNvSpPr/>
          <p:nvPr/>
        </p:nvSpPr>
        <p:spPr>
          <a:xfrm>
            <a:off x="574588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588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588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I=.42</a:t>
            </a:r>
          </a:p>
        </p:txBody>
      </p:sp>
      <p:sp>
        <p:nvSpPr>
          <p:cNvPr id="62" name="Oval 61"/>
          <p:cNvSpPr/>
          <p:nvPr/>
        </p:nvSpPr>
        <p:spPr>
          <a:xfrm>
            <a:off x="7626000" y="403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26000" y="410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64" name="Oval 63"/>
          <p:cNvSpPr/>
          <p:nvPr/>
        </p:nvSpPr>
        <p:spPr>
          <a:xfrm>
            <a:off x="950612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612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2612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I=.24</a:t>
            </a:r>
          </a:p>
        </p:txBody>
      </p:sp>
      <p:sp>
        <p:nvSpPr>
          <p:cNvPr id="67" name="Oval 66"/>
          <p:cNvSpPr/>
          <p:nvPr/>
        </p:nvSpPr>
        <p:spPr>
          <a:xfrm>
            <a:off x="1138624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38624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0624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980000"/>
            <a:ext cx="110000" cy="96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5760" y="501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300"/>
                </a:solidFill>
                <a:latin typeface="Calibri"/>
              </a:rPr>
              <a:t>+  α  (coupling)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Functional edges couple within groups:  B0–B1  and  B3–B4  boost each other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30576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185880" y="553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94612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08576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5760" y="501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96588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72612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6120" y="516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160624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386576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6576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83" name="Oval 82"/>
          <p:cNvSpPr/>
          <p:nvPr/>
        </p:nvSpPr>
        <p:spPr>
          <a:xfrm>
            <a:off x="574588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4588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85" name="Oval 84"/>
          <p:cNvSpPr/>
          <p:nvPr/>
        </p:nvSpPr>
        <p:spPr>
          <a:xfrm>
            <a:off x="7626000" y="531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26000" y="538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87" name="Oval 86"/>
          <p:cNvSpPr/>
          <p:nvPr/>
        </p:nvSpPr>
        <p:spPr>
          <a:xfrm>
            <a:off x="950612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50612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89" name="Oval 88"/>
          <p:cNvSpPr/>
          <p:nvPr/>
        </p:nvSpPr>
        <p:spPr>
          <a:xfrm>
            <a:off x="1138624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38624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6388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25252"/>
                </a:solidFill>
                <a:latin typeface="Calibri"/>
              </a:rPr>
              <a:t>Illustrative 5-block example (values chosen to show the mechanism). Each row adds one component to the row above — the graph is built up, not rebuilt.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Background:  How SOTA Compresses an LLM (e.g. FLAT-LLM)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Low-rank methods shrink a model by replacing each layer with a </a:t>
            </a:r>
            <a:r>
              <a:rPr sz="1400" b="1">
                <a:solidFill>
                  <a:srgbClr val="0068B5"/>
                </a:solidFill>
                <a:latin typeface="Calibri"/>
              </a:rPr>
              <a:t>smaller approximation</a:t>
            </a:r>
            <a:r>
              <a:rPr sz="1400" b="1">
                <a:solidFill>
                  <a:srgbClr val="1A1A1A"/>
                </a:solidFill>
                <a:latin typeface="Calibri"/>
              </a:rPr>
              <a:t> that keeps only its most useful patterns.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30000" cy="1078992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46304" cy="107899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68B5"/>
                </a:solidFill>
                <a:latin typeface="Calibri"/>
              </a:rPr>
              <a:t>What is “rank”, simply?    </a:t>
            </a:r>
            <a:r>
              <a:rPr sz="1300" b="0">
                <a:solidFill>
                  <a:srgbClr val="1A1A1A"/>
                </a:solidFill>
                <a:latin typeface="Calibri"/>
              </a:rPr>
              <a:t>A layer does its job using a number of independent patterns.  </a:t>
            </a:r>
            <a:r>
              <a:rPr sz="1300" b="1">
                <a:solidFill>
                  <a:srgbClr val="1A1A1A"/>
                </a:solidFill>
                <a:latin typeface="Calibri"/>
              </a:rPr>
              <a:t>“Rank” = how many of those patterns we keep.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Keeping fewer patterns (lower rank) makes the layer smaller and faster — like describing a photo with a few broad strokes instead of every pixel.   </a:t>
            </a:r>
            <a:r>
              <a:rPr sz="1300" b="1">
                <a:solidFill>
                  <a:srgbClr val="1A1A1A"/>
                </a:solidFill>
                <a:latin typeface="Calibri"/>
              </a:rPr>
              <a:t>So “how much to compress a layer” = “how many patterns (rank) to keep.”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15184"/>
            <a:ext cx="3685032" cy="221284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615184"/>
            <a:ext cx="3685032" cy="9144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2871215"/>
            <a:ext cx="566928" cy="566928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68B5"/>
                </a:solidFill>
                <a:latin typeface="Calibri"/>
              </a:rPr>
              <a:t>The primitive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Approximate each FFN by a low-rank factor — keep its top patterns (directions). Fewer kept = less compute.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38244" y="2615184"/>
            <a:ext cx="3685032" cy="221284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38244" y="2615184"/>
            <a:ext cx="3685032" cy="9144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39412" y="2871215"/>
            <a:ext cx="566928" cy="566928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9412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4356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A300"/>
                </a:solidFill>
                <a:latin typeface="Calibri"/>
              </a:rPr>
              <a:t>The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9412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A fixed TOTAL rank is shared across all 32 layers. The core question: how much rank does each layer get?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10728" y="2615184"/>
            <a:ext cx="3685032" cy="221284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0728" y="2615184"/>
            <a:ext cx="3685032" cy="914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11896" y="2871215"/>
            <a:ext cx="566928" cy="566928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1896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0504D"/>
                </a:solidFill>
                <a:latin typeface="Calibri"/>
              </a:rPr>
              <a:t>Allocation — FLAT-LLM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Score each layer by its block-influence — how much it changes the residual (the angle between what goes in and what comes out). More influence → keep more rank.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074920"/>
            <a:ext cx="11430000" cy="7315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5074920"/>
            <a:ext cx="146304" cy="73152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157216"/>
            <a:ext cx="109728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All SOTA low-rank methods (ASVD, SVD-LLM, FLAT-LLM) share this template:  </a:t>
            </a:r>
            <a:r>
              <a:rPr sz="1300" b="0">
                <a:solidFill>
                  <a:srgbClr val="1A1A1A"/>
                </a:solidFill>
                <a:latin typeface="Calibri"/>
              </a:rPr>
              <a:t>a per-layer LOCAL score, with each layer allocated independently.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Low-Rank vs. Other Structured Pruning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Both are “structured” pruning (regular, hardware-friendly shapes) — they differ in </a:t>
            </a:r>
            <a:r>
              <a:rPr sz="1400" b="1">
                <a:solidFill>
                  <a:srgbClr val="0068B5"/>
                </a:solidFill>
                <a:latin typeface="Calibri"/>
              </a:rPr>
              <a:t>what they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623560" cy="184708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46304" cy="1847088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A300"/>
                </a:solidFill>
                <a:latin typeface="Calibri"/>
              </a:rPr>
              <a:t>Remove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Delete whole </a:t>
            </a:r>
            <a:r>
              <a:rPr sz="1300" b="1">
                <a:solidFill>
                  <a:srgbClr val="1A1A1A"/>
                </a:solidFill>
                <a:latin typeface="Calibri"/>
              </a:rPr>
              <a:t>channels, attention heads, or blocks</a:t>
            </a:r>
            <a:r>
              <a:rPr sz="1300" b="0">
                <a:solidFill>
                  <a:srgbClr val="525252"/>
                </a:solidFill>
                <a:latin typeface="Calibri"/>
              </a:rPr>
              <a:t>.  The units left behind are the originals, unchanged.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7977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A300"/>
                </a:solidFill>
                <a:latin typeface="Calibri"/>
              </a:rPr>
              <a:t>‹ the ViT channel / block pruning earlier in this talk 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371600"/>
            <a:ext cx="5623560" cy="184708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371600"/>
            <a:ext cx="146304" cy="1847088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68B5"/>
                </a:solidFill>
                <a:latin typeface="Calibri"/>
              </a:rPr>
              <a:t>Reduce rank   (these methods)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Keep no clean subset.  Replace a weight matrix  </a:t>
            </a:r>
            <a:r>
              <a:rPr sz="1300" b="1">
                <a:solidFill>
                  <a:srgbClr val="1A1A1A"/>
                </a:solidFill>
                <a:latin typeface="Calibri"/>
              </a:rPr>
              <a:t>W ≈ A · B</a:t>
            </a:r>
            <a:r>
              <a:rPr sz="1300" b="0">
                <a:solidFill>
                  <a:srgbClr val="525252"/>
                </a:solidFill>
                <a:latin typeface="Calibri"/>
              </a:rPr>
              <a:t>  with two smaller matrices — keeping a low-dimensional </a:t>
            </a:r>
            <a:r>
              <a:rPr sz="1300" b="1">
                <a:solidFill>
                  <a:srgbClr val="1A1A1A"/>
                </a:solidFill>
                <a:latin typeface="Calibri"/>
              </a:rPr>
              <a:t>rotated subspace</a:t>
            </a:r>
            <a:r>
              <a:rPr sz="1300" b="0">
                <a:solidFill>
                  <a:srgbClr val="525252"/>
                </a:solidFill>
                <a:latin typeface="Calibri"/>
              </a:rPr>
              <a:t> (mixtures of neurons).   “Rank” = the inner size.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64992"/>
            <a:ext cx="11430000" cy="120700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364992"/>
            <a:ext cx="146304" cy="120700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456432"/>
            <a:ext cx="1097280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0504D"/>
                </a:solidFill>
                <a:latin typeface="Calibri"/>
              </a:rPr>
              <a:t>The weakness both share:  </a:t>
            </a:r>
            <a:r>
              <a:rPr sz="1300" b="0">
                <a:solidFill>
                  <a:srgbClr val="1A1A1A"/>
                </a:solidFill>
                <a:latin typeface="Calibri"/>
              </a:rPr>
              <a:t>either way, the method decides </a:t>
            </a:r>
            <a:r>
              <a:rPr sz="1300" b="1">
                <a:solidFill>
                  <a:srgbClr val="1A1A1A"/>
                </a:solidFill>
                <a:latin typeface="Calibri"/>
              </a:rPr>
              <a:t>per layer how much to cut</a:t>
            </a:r>
            <a:r>
              <a:rPr sz="1300" b="0">
                <a:solidFill>
                  <a:srgbClr val="1A1A1A"/>
                </a:solidFill>
                <a:latin typeface="Calibri"/>
              </a:rPr>
              <a:t>, from a </a:t>
            </a:r>
            <a:r>
              <a:rPr sz="1300" b="1">
                <a:solidFill>
                  <a:srgbClr val="1A1A1A"/>
                </a:solidFill>
                <a:latin typeface="Calibri"/>
              </a:rPr>
              <a:t>LOCAL</a:t>
            </a:r>
            <a:r>
              <a:rPr sz="1300" b="0">
                <a:solidFill>
                  <a:srgbClr val="1A1A1A"/>
                </a:solidFill>
                <a:latin typeface="Calibri"/>
              </a:rPr>
              <a:t> score (importance / reconstruction at that layer alone).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It is blind to how an </a:t>
            </a:r>
            <a:r>
              <a:rPr sz="1300" b="1">
                <a:solidFill>
                  <a:srgbClr val="C0504D"/>
                </a:solidFill>
                <a:latin typeface="Calibri"/>
              </a:rPr>
              <a:t>early layer's error amplifies downstream</a:t>
            </a:r>
            <a:r>
              <a:rPr sz="1300" b="0">
                <a:solidFill>
                  <a:srgbClr val="525252"/>
                </a:solidFill>
                <a:latin typeface="Calibri"/>
              </a:rPr>
              <a:t> (~30× by the output) — the chain is ignored.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718304"/>
            <a:ext cx="11430000" cy="132588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718304"/>
            <a:ext cx="146304" cy="13258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09744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Our cure — the novelty:  </a:t>
            </a:r>
            <a:r>
              <a:rPr sz="1300" b="0">
                <a:solidFill>
                  <a:srgbClr val="1A1A1A"/>
                </a:solidFill>
                <a:latin typeface="Calibri"/>
              </a:rPr>
              <a:t>allocate rank by </a:t>
            </a:r>
            <a:r>
              <a:rPr sz="1300" b="1">
                <a:solidFill>
                  <a:srgbClr val="2E8B57"/>
                </a:solidFill>
                <a:latin typeface="Calibri"/>
              </a:rPr>
              <a:t>downstream amplification</a:t>
            </a:r>
            <a:r>
              <a:rPr sz="1300" b="0">
                <a:solidFill>
                  <a:srgbClr val="1A1A1A"/>
                </a:solidFill>
                <a:latin typeface="Calibri"/>
              </a:rPr>
              <a:t> and </a:t>
            </a:r>
            <a:r>
              <a:rPr sz="1300" b="1">
                <a:solidFill>
                  <a:srgbClr val="2E8B57"/>
                </a:solidFill>
                <a:latin typeface="Calibri"/>
              </a:rPr>
              <a:t>cross-layer coupling</a:t>
            </a:r>
            <a:r>
              <a:rPr sz="1300" b="0">
                <a:solidFill>
                  <a:srgbClr val="1A1A1A"/>
                </a:solidFill>
                <a:latin typeface="Calibri"/>
              </a:rPr>
              <a:t>, jointly.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Protect layers whose errors blow up; compress hard where they damp.   </a:t>
            </a:r>
            <a:r>
              <a:rPr sz="1300" b="1">
                <a:solidFill>
                  <a:srgbClr val="1A1A1A"/>
                </a:solidFill>
                <a:latin typeface="Calibri"/>
              </a:rPr>
              <a:t>The first error-propagation-aware allocation for low-rank LLM compression.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1:  Compression Error Amplifies with Depth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A layer's </a:t>
            </a:r>
            <a:r>
              <a:rPr sz="1400" b="1">
                <a:solidFill>
                  <a:srgbClr val="C0504D"/>
                </a:solidFill>
                <a:latin typeface="Calibri"/>
              </a:rPr>
              <a:t>local</a:t>
            </a:r>
            <a:r>
              <a:rPr sz="1400" b="1">
                <a:solidFill>
                  <a:srgbClr val="1A1A1A"/>
                </a:solidFill>
                <a:latin typeface="Calibri"/>
              </a:rPr>
              <a:t> error is not its true cost — it propagates to the output, and the amplification depends on depth.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89888"/>
            <a:ext cx="11430000" cy="512064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53896"/>
            <a:ext cx="11064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68B5"/>
                </a:solidFill>
                <a:latin typeface="Calibri"/>
              </a:rPr>
              <a:t>Probe:  </a:t>
            </a:r>
            <a:r>
              <a:rPr sz="1200" b="0">
                <a:solidFill>
                  <a:srgbClr val="525252"/>
                </a:solidFill>
                <a:latin typeface="Calibri"/>
              </a:rPr>
              <a:t>rank-truncate ONE layer's FFN, measure  </a:t>
            </a:r>
            <a:r>
              <a:rPr sz="1200" b="1">
                <a:solidFill>
                  <a:srgbClr val="1A1A1A"/>
                </a:solidFill>
                <a:latin typeface="Calibri"/>
              </a:rPr>
              <a:t>Δ output ÷ Δ local</a:t>
            </a:r>
            <a:r>
              <a:rPr sz="1200" b="0">
                <a:solidFill>
                  <a:srgbClr val="525252"/>
                </a:solidFill>
                <a:latin typeface="Calibri"/>
              </a:rPr>
              <a:t>  = how much its error blows up by the time it reaches the logits.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286000"/>
            <a:ext cx="960120" cy="2331720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30.8×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2753189"/>
            <a:ext cx="960120" cy="1864530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2460581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14.9×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2819977"/>
            <a:ext cx="960120" cy="1797742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2527369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13.4×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366553"/>
            <a:ext cx="960120" cy="1251166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3073945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5.4×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877242"/>
            <a:ext cx="960120" cy="740477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584634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A300"/>
                </a:solidFill>
                <a:latin typeface="Calibri"/>
              </a:rPr>
              <a:t>2.0×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0" y="3923744"/>
            <a:ext cx="960120" cy="693975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3631136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A300"/>
                </a:solidFill>
                <a:latin typeface="Calibri"/>
              </a:rPr>
              <a:t>1.8×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4086290"/>
            <a:ext cx="960120" cy="531429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41080" y="379368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68B5"/>
                </a:solidFill>
                <a:latin typeface="Calibri"/>
              </a:rPr>
              <a:t>1.2×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L24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260070"/>
            <a:ext cx="960120" cy="357649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0" y="396746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68B5"/>
                </a:solidFill>
                <a:latin typeface="Calibri"/>
              </a:rPr>
              <a:t>0.7×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956048"/>
            <a:ext cx="6400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amplification = Δe2e ÷ Δlocal   (log scale; L0 = nearest input)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95604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C0504D"/>
                </a:solidFill>
                <a:latin typeface="Calibri"/>
              </a:rPr>
              <a:t>early → amplify ~30×    </a:t>
            </a:r>
            <a:r>
              <a:rPr sz="1100" b="1">
                <a:solidFill>
                  <a:srgbClr val="0068B5"/>
                </a:solidFill>
                <a:latin typeface="Calibri"/>
              </a:rPr>
              <a:t>late → damp &lt;1×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806440"/>
            <a:ext cx="11430000" cy="713232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5806440"/>
            <a:ext cx="146304" cy="71323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879592"/>
            <a:ext cx="1097280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C0504D"/>
                </a:solidFill>
                <a:latin typeface="Calibri"/>
              </a:rPr>
              <a:t>Implication:  </a:t>
            </a:r>
            <a:r>
              <a:rPr sz="1300" b="0">
                <a:solidFill>
                  <a:srgbClr val="1A1A1A"/>
                </a:solidFill>
                <a:latin typeface="Calibri"/>
              </a:rPr>
              <a:t>the true cost of compressing a layer varies ~43× by depth.  Methods that allocate rank by </a:t>
            </a:r>
            <a:r>
              <a:rPr sz="1300" b="1">
                <a:solidFill>
                  <a:srgbClr val="1A1A1A"/>
                </a:solidFill>
                <a:latin typeface="Calibri"/>
              </a:rPr>
              <a:t>local</a:t>
            </a:r>
            <a:r>
              <a:rPr sz="1300" b="0">
                <a:solidFill>
                  <a:srgbClr val="1A1A1A"/>
                </a:solidFill>
                <a:latin typeface="Calibri"/>
              </a:rPr>
              <a:t> error (FLAT-LLM, ASVD, SVD-LLM) optimize the wrong quantity.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2:  Layer Errors Couple — a Graph, Not Just a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Do layers' compression errors </a:t>
            </a:r>
            <a:r>
              <a:rPr sz="1400" b="1">
                <a:solidFill>
                  <a:srgbClr val="0068B5"/>
                </a:solidFill>
                <a:latin typeface="Calibri"/>
              </a:rPr>
              <a:t>interact</a:t>
            </a:r>
            <a:r>
              <a:rPr sz="1400" b="1">
                <a:solidFill>
                  <a:srgbClr val="1A1A1A"/>
                </a:solidFill>
                <a:latin typeface="Calibri"/>
              </a:rPr>
              <a:t>?  If so, rank must be allocated jointly, not greedily per-layer.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44752"/>
            <a:ext cx="11430000" cy="11887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146304" cy="118872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719072"/>
            <a:ext cx="658368" cy="658368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591056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A300"/>
                </a:solidFill>
                <a:latin typeface="Calibri"/>
              </a:rPr>
              <a:t>Errors are non-additive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1993392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Compressing two layers together ≠ sum of each alone.  Interaction (mean 0.60) is large — joint effects matter.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61488"/>
            <a:ext cx="11430000" cy="11887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761488"/>
            <a:ext cx="146304" cy="118872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" y="3035808"/>
            <a:ext cx="658368" cy="658368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063240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|cos|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5336" y="290779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068B5"/>
                </a:solidFill>
                <a:latin typeface="Calibri"/>
              </a:rPr>
              <a:t>Coupling is local (banded)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36" y="3310128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Error directions align for nearby layers, decay with distance:  adjacent 0.46  ›  distant 0.28.  A banded graph.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78224"/>
            <a:ext cx="11430000" cy="118872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078224"/>
            <a:ext cx="146304" cy="11887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512" y="4352544"/>
            <a:ext cx="658368" cy="658368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4379976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28–31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45336" y="422452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0504D"/>
                </a:solidFill>
                <a:latin typeface="Calibri"/>
              </a:rPr>
              <a:t>The tail decouples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45336" y="4626864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The final block is weakly coupled to all others (|cos| 0.12–0.24) — a separate, compressible group.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806440"/>
            <a:ext cx="11430000" cy="713232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46304" cy="7132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97280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The adjacency is real:  </a:t>
            </a:r>
            <a:r>
              <a:rPr sz="1300" b="0">
                <a:solidFill>
                  <a:srgbClr val="1A1A1A"/>
                </a:solidFill>
                <a:latin typeface="Calibri"/>
              </a:rPr>
              <a:t>a banded error-coupling graph over the residual stream → rank allocation is a </a:t>
            </a:r>
            <a:r>
              <a:rPr sz="1300" b="1">
                <a:solidFill>
                  <a:srgbClr val="1A1A1A"/>
                </a:solidFill>
                <a:latin typeface="Calibri"/>
              </a:rPr>
              <a:t>joint</a:t>
            </a:r>
            <a:r>
              <a:rPr sz="1300" b="0">
                <a:solidFill>
                  <a:srgbClr val="1A1A1A"/>
                </a:solidFill>
                <a:latin typeface="Calibri"/>
              </a:rPr>
              <a:t> problem, which per-layer greedy methods cannot solve.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3:  Amplification-Aware Allocation Beats FLAT-LLM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Same low-rank primitive, same total budget (</a:t>
            </a:r>
            <a:r>
              <a:rPr sz="1400" b="1">
                <a:solidFill>
                  <a:srgbClr val="2E8B57"/>
                </a:solidFill>
                <a:latin typeface="Calibri"/>
              </a:rPr>
              <a:t>keep 50%</a:t>
            </a:r>
            <a:r>
              <a:rPr sz="1400" b="1">
                <a:solidFill>
                  <a:srgbClr val="1A1A1A"/>
                </a:solidFill>
                <a:latin typeface="Calibri"/>
              </a:rPr>
              <a:t>), Llama-2-7B WikiText perplexity — only the </a:t>
            </a:r>
            <a:r>
              <a:rPr sz="1400" b="1">
                <a:solidFill>
                  <a:srgbClr val="2E8B57"/>
                </a:solidFill>
                <a:latin typeface="Calibri"/>
              </a:rPr>
              <a:t>allocation</a:t>
            </a:r>
            <a:r>
              <a:rPr sz="1400" b="1">
                <a:solidFill>
                  <a:srgbClr val="1A1A1A"/>
                </a:solidFill>
                <a:latin typeface="Calibri"/>
              </a:rPr>
              <a:t> differs.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525252"/>
                </a:solidFill>
                <a:latin typeface="Calibri"/>
              </a:rPr>
              <a:t>No compression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627632"/>
            <a:ext cx="2528665" cy="420624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98913" y="165506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E9E9E"/>
                </a:solidFill>
                <a:latin typeface="Calibri"/>
              </a:rPr>
              <a:t>6.87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04288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525252"/>
                </a:solidFill>
                <a:latin typeface="Calibri"/>
              </a:rPr>
              <a:t>Uniform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2267712"/>
            <a:ext cx="6400800" cy="420624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8" y="22951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E9E9E"/>
                </a:solidFill>
                <a:latin typeface="Calibri"/>
              </a:rPr>
              <a:t>17.39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944368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1A1A1A"/>
                </a:solidFill>
                <a:latin typeface="Calibri"/>
              </a:rPr>
              <a:t>FLAT-LLM  (SOTA)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907791"/>
            <a:ext cx="5359151" cy="420624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9399" y="2935223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A300"/>
                </a:solidFill>
                <a:latin typeface="Calibri"/>
              </a:rPr>
              <a:t>14.56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584448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1A1A1A"/>
                </a:solidFill>
                <a:latin typeface="Calibri"/>
              </a:rPr>
              <a:t>Ours  (amplification-joint)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3547872"/>
            <a:ext cx="5138307" cy="42062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08555" y="3575303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8B57"/>
                </a:solidFill>
                <a:latin typeface="Calibri"/>
              </a:rPr>
              <a:t>13.96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151376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perplexity   (lower = better)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590288"/>
            <a:ext cx="5623560" cy="841248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590288"/>
            <a:ext cx="146304" cy="8412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672584"/>
            <a:ext cx="5212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8B57"/>
                </a:solidFill>
                <a:latin typeface="Calibri"/>
              </a:rPr>
              <a:t>−4.2%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vs FLAT-LLM  (faithful angular-BI baseline)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590288"/>
            <a:ext cx="5623560" cy="84124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4590288"/>
            <a:ext cx="146304" cy="841248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672584"/>
            <a:ext cx="5212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068B5"/>
                </a:solidFill>
                <a:latin typeface="Calibri"/>
              </a:rPr>
              <a:t>−19.7%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vs Uniform allocation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577840"/>
            <a:ext cx="11430000" cy="868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577840"/>
            <a:ext cx="146304" cy="8686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50992"/>
            <a:ext cx="10972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A300"/>
                </a:solidFill>
                <a:latin typeface="Calibri"/>
              </a:rPr>
              <a:t>Why we win — the signals disagree:  </a:t>
            </a:r>
            <a:r>
              <a:rPr sz="1200" b="0">
                <a:solidFill>
                  <a:srgbClr val="1A1A1A"/>
                </a:solidFill>
                <a:latin typeface="Calibri"/>
              </a:rPr>
              <a:t>FLAT-LLM's block-influence (how much a layer rotates the residual) favors boundary layers 0 &amp; 31;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amplification instead protects high-downstream-impact mid-early layers (2–5) and drains the damping tail.  </a:t>
            </a:r>
            <a:r>
              <a:rPr sz="1200" b="1">
                <a:solidFill>
                  <a:srgbClr val="1A1A1A"/>
                </a:solidFill>
                <a:latin typeface="Calibri"/>
              </a:rPr>
              <a:t>Amp captures sensitivity BI misses.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