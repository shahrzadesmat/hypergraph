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0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One ratio for every block cannot express three real differences between blocks: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60000"/>
            <a:ext cx="11430000" cy="143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60000"/>
            <a:ext cx="150000" cy="143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760" y="1735000"/>
            <a:ext cx="680000" cy="68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760" y="179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760" y="147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Some blocks are nearly dead weight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Block sensitivity (output change when a block is bypassed) varies widely —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a few blocks are close to identity, yet uniform pruning still keeps and shrinks them,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spending MAC budget on blocks that contribute almost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760" y="249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0504D"/>
                </a:solidFill>
                <a:latin typeface="Calibri"/>
              </a:rPr>
              <a:t>isomorphic: depth ignored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60" y="151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5760" y="159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C0504D"/>
                </a:solidFill>
                <a:latin typeface="Calibri"/>
              </a:rPr>
              <a:t>→  S_min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remove them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0000"/>
            <a:ext cx="11430000" cy="143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940000"/>
            <a:ext cx="150000" cy="14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760" y="3315000"/>
            <a:ext cx="680000" cy="68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760" y="337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760" y="305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300"/>
                </a:solidFill>
                <a:latin typeface="Calibri"/>
              </a:rPr>
              <a:t>Blocks are not equally important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Taylor importance (|grad × weight|) differs block-to-block. One global ratio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over-prunes the critical blocks (accuracy drops) and under-prunes the redundant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ones (budget wasted) — the cut lands in exactly the wrong places.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760" y="407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A300"/>
                </a:solidFill>
                <a:latin typeface="Calibri"/>
              </a:rPr>
              <a:t>isomorphic: width is flat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60" y="309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5760" y="317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FFA300"/>
                </a:solidFill>
                <a:latin typeface="Calibri"/>
              </a:rPr>
              <a:t>→  θ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per-group ratios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20000"/>
            <a:ext cx="11430000" cy="143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20000"/>
            <a:ext cx="150000" cy="143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760" y="4895000"/>
            <a:ext cx="680000" cy="68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760" y="495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5760" y="463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8B5"/>
                </a:solidFill>
                <a:latin typeface="Calibri"/>
              </a:rPr>
              <a:t>Block importances are not independent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Some blocks rise and fall in importance together (their scores are correlated).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Pruning each block in isolation ignores that a surviving block may depend on a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neighbour you just pruned — the decisions should inform each other.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5760" y="565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68B5"/>
                </a:solidFill>
                <a:latin typeface="Calibri"/>
              </a:rPr>
              <a:t>isomorphic: coupling ignored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5760" y="467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5760" y="475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0068B5"/>
                </a:solidFill>
                <a:latin typeface="Calibri"/>
              </a:rPr>
              <a:t>→  α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functional edges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9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7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576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8588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6600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4612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4588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588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2600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0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50612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612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8624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8624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20000"/>
            <a:ext cx="110000" cy="9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45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0576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85880" y="297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4612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576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S=.90</a:t>
            </a:r>
          </a:p>
        </p:txBody>
      </p:sp>
      <p:sp>
        <p:nvSpPr>
          <p:cNvPr id="30" name="Oval 29"/>
          <p:cNvSpPr/>
          <p:nvPr/>
        </p:nvSpPr>
        <p:spPr>
          <a:xfrm>
            <a:off x="574588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588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588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S=.85</a:t>
            </a:r>
          </a:p>
        </p:txBody>
      </p:sp>
      <p:sp>
        <p:nvSpPr>
          <p:cNvPr id="33" name="Oval 32"/>
          <p:cNvSpPr/>
          <p:nvPr/>
        </p:nvSpPr>
        <p:spPr>
          <a:xfrm>
            <a:off x="7626000" y="275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00" y="282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600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Calibri"/>
              </a:rPr>
              <a:t>S=.35</a:t>
            </a:r>
          </a:p>
        </p:txBody>
      </p:sp>
      <p:sp>
        <p:nvSpPr>
          <p:cNvPr id="36" name="Oval 35"/>
          <p:cNvSpPr/>
          <p:nvPr/>
        </p:nvSpPr>
        <p:spPr>
          <a:xfrm>
            <a:off x="950612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612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2612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S=.55</a:t>
            </a:r>
          </a:p>
        </p:txBody>
      </p:sp>
      <p:sp>
        <p:nvSpPr>
          <p:cNvPr id="39" name="Oval 38"/>
          <p:cNvSpPr/>
          <p:nvPr/>
        </p:nvSpPr>
        <p:spPr>
          <a:xfrm>
            <a:off x="1138624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8624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0624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58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00000"/>
            <a:ext cx="110000" cy="9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60" y="373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 {B0,B1} high → r↓ ,   {B3,B4} low → r↑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0576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85880" y="425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4612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65760" y="3880000"/>
            <a:ext cx="2320120" cy="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6576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8588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7582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0AD47"/>
                </a:solidFill>
                <a:latin typeface="Calibri"/>
              </a:rPr>
              <a:t>Group A · r↓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6120" y="3880000"/>
            <a:ext cx="2320120" cy="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0612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82624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91618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504D"/>
                </a:solidFill>
                <a:latin typeface="Calibri"/>
              </a:rPr>
              <a:t>Group B · r↑</a:t>
            </a:r>
          </a:p>
        </p:txBody>
      </p:sp>
      <p:sp>
        <p:nvSpPr>
          <p:cNvPr id="56" name="Oval 55"/>
          <p:cNvSpPr/>
          <p:nvPr/>
        </p:nvSpPr>
        <p:spPr>
          <a:xfrm>
            <a:off x="386576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76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576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I=.45</a:t>
            </a:r>
          </a:p>
        </p:txBody>
      </p:sp>
      <p:sp>
        <p:nvSpPr>
          <p:cNvPr id="59" name="Oval 58"/>
          <p:cNvSpPr/>
          <p:nvPr/>
        </p:nvSpPr>
        <p:spPr>
          <a:xfrm>
            <a:off x="574588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588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588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I=.42</a:t>
            </a:r>
          </a:p>
        </p:txBody>
      </p:sp>
      <p:sp>
        <p:nvSpPr>
          <p:cNvPr id="62" name="Oval 61"/>
          <p:cNvSpPr/>
          <p:nvPr/>
        </p:nvSpPr>
        <p:spPr>
          <a:xfrm>
            <a:off x="7626000" y="403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00" y="410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64" name="Oval 63"/>
          <p:cNvSpPr/>
          <p:nvPr/>
        </p:nvSpPr>
        <p:spPr>
          <a:xfrm>
            <a:off x="950612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612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2612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I=.24</a:t>
            </a:r>
          </a:p>
        </p:txBody>
      </p:sp>
      <p:sp>
        <p:nvSpPr>
          <p:cNvPr id="67" name="Oval 66"/>
          <p:cNvSpPr/>
          <p:nvPr/>
        </p:nvSpPr>
        <p:spPr>
          <a:xfrm>
            <a:off x="1138624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38624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624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980000"/>
            <a:ext cx="110000" cy="9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5760" y="501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couple within groups:  B0–B1  and  B3–B4  boost each other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30576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185880" y="553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4612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08576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5760" y="501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96588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72612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6120" y="516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60624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86576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6576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83" name="Oval 82"/>
          <p:cNvSpPr/>
          <p:nvPr/>
        </p:nvSpPr>
        <p:spPr>
          <a:xfrm>
            <a:off x="574588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4588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85" name="Oval 84"/>
          <p:cNvSpPr/>
          <p:nvPr/>
        </p:nvSpPr>
        <p:spPr>
          <a:xfrm>
            <a:off x="7626000" y="531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26000" y="538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87" name="Oval 86"/>
          <p:cNvSpPr/>
          <p:nvPr/>
        </p:nvSpPr>
        <p:spPr>
          <a:xfrm>
            <a:off x="950612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0612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89" name="Oval 88"/>
          <p:cNvSpPr/>
          <p:nvPr/>
        </p:nvSpPr>
        <p:spPr>
          <a:xfrm>
            <a:off x="1138624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38624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Background:  How SOTA Compresses an LLM (e.g. FLAT-LLM)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Low-rank methods shrink a model by replacing each layer with a </a:t>
            </a:r>
            <a:r>
              <a:rPr sz="1400" b="1">
                <a:solidFill>
                  <a:srgbClr val="0068B5"/>
                </a:solidFill>
                <a:latin typeface="Calibri"/>
              </a:rPr>
              <a:t>smaller approximation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that keeps only its most useful patterns.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107899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107899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What is “rank”, simply?    </a:t>
            </a:r>
            <a:r>
              <a:rPr sz="1300" b="0">
                <a:solidFill>
                  <a:srgbClr val="1A1A1A"/>
                </a:solidFill>
                <a:latin typeface="Calibri"/>
              </a:rPr>
              <a:t>A layer does its job using a number of independent patterns.  </a:t>
            </a:r>
            <a:r>
              <a:rPr sz="1300" b="1">
                <a:solidFill>
                  <a:srgbClr val="1A1A1A"/>
                </a:solidFill>
                <a:latin typeface="Calibri"/>
              </a:rPr>
              <a:t>“Rank” = how many of those patterns we keep.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Keeping fewer patterns (lower rank) makes the layer smaller and faster — like describing a photo with a few broad strokes instead of every pixel.   </a:t>
            </a:r>
            <a:r>
              <a:rPr sz="1300" b="1">
                <a:solidFill>
                  <a:srgbClr val="1A1A1A"/>
                </a:solidFill>
                <a:latin typeface="Calibri"/>
              </a:rPr>
              <a:t>So “how much to compress a layer” = “how many patterns (rank) to keep.”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15184"/>
            <a:ext cx="3685032" cy="22128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615184"/>
            <a:ext cx="3685032" cy="9144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2871215"/>
            <a:ext cx="566928" cy="56692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The primitive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Approximate each FFN by a low-rank factor — keep its top patterns (directions). Fewer kept = less compute.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38244" y="2615184"/>
            <a:ext cx="3685032" cy="221284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8244" y="2615184"/>
            <a:ext cx="3685032" cy="9144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39412" y="2871215"/>
            <a:ext cx="566928" cy="56692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9412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4356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The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9412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 fixed TOTAL rank is shared across all 32 layers. The core question: how much rank does each layer get?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0728" y="2615184"/>
            <a:ext cx="3685032" cy="221284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0728" y="2615184"/>
            <a:ext cx="3685032" cy="914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11896" y="2871215"/>
            <a:ext cx="566928" cy="56692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0504D"/>
                </a:solidFill>
                <a:latin typeface="Calibri"/>
              </a:rPr>
              <a:t>Allocation — FLAT-LLM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Score each layer by its block-influence — how much it changes the residual (the angle between what goes in and what comes out). More influence → keep more rank.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74920"/>
            <a:ext cx="11430000" cy="7315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074920"/>
            <a:ext cx="146304" cy="7315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157216"/>
            <a:ext cx="109728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All SOTA low-rank methods (ASVD, SVD-LLM, FLAT-LLM) share this template: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per-layer LOCAL score, with each layer allocated independently.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Low-Rank vs. Other Structured Pruning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Both are “structured” pruning (regular, hardware-friendly shapes) — they differ in </a:t>
            </a:r>
            <a:r>
              <a:rPr sz="1400" b="1">
                <a:solidFill>
                  <a:srgbClr val="0068B5"/>
                </a:solidFill>
                <a:latin typeface="Calibri"/>
              </a:rPr>
              <a:t>what they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623560" cy="184708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1847088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A300"/>
                </a:solidFill>
                <a:latin typeface="Calibri"/>
              </a:rPr>
              <a:t>Remove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Delete whole </a:t>
            </a:r>
            <a:r>
              <a:rPr sz="1300" b="1">
                <a:solidFill>
                  <a:srgbClr val="1A1A1A"/>
                </a:solidFill>
                <a:latin typeface="Calibri"/>
              </a:rPr>
              <a:t>channels, attention heads, or blocks</a:t>
            </a:r>
            <a:r>
              <a:rPr sz="1300" b="0">
                <a:solidFill>
                  <a:srgbClr val="525252"/>
                </a:solidFill>
                <a:latin typeface="Calibri"/>
              </a:rPr>
              <a:t>.  The units left behind are the originals, unchanged.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7977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A300"/>
                </a:solidFill>
                <a:latin typeface="Calibri"/>
              </a:rPr>
              <a:t>‹ the ViT channel / block pruning earlier in this talk 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623560" cy="184708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371600"/>
            <a:ext cx="146304" cy="184708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68B5"/>
                </a:solidFill>
                <a:latin typeface="Calibri"/>
              </a:rPr>
              <a:t>Reduce rank   (these methods)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Keep no clean subset.  Replace a weight matrix  </a:t>
            </a:r>
            <a:r>
              <a:rPr sz="1300" b="1">
                <a:solidFill>
                  <a:srgbClr val="1A1A1A"/>
                </a:solidFill>
                <a:latin typeface="Calibri"/>
              </a:rPr>
              <a:t>W ≈ A · B</a:t>
            </a:r>
            <a:r>
              <a:rPr sz="1300" b="0">
                <a:solidFill>
                  <a:srgbClr val="525252"/>
                </a:solidFill>
                <a:latin typeface="Calibri"/>
              </a:rPr>
              <a:t>  with two smaller matrices — keeping a low-dimensional </a:t>
            </a:r>
            <a:r>
              <a:rPr sz="1300" b="1">
                <a:solidFill>
                  <a:srgbClr val="1A1A1A"/>
                </a:solidFill>
                <a:latin typeface="Calibri"/>
              </a:rPr>
              <a:t>rotated subspace</a:t>
            </a:r>
            <a:r>
              <a:rPr sz="1300" b="0">
                <a:solidFill>
                  <a:srgbClr val="525252"/>
                </a:solidFill>
                <a:latin typeface="Calibri"/>
              </a:rPr>
              <a:t> (mixtures of neurons).   “Rank” = the inner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64992"/>
            <a:ext cx="11430000" cy="120700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364992"/>
            <a:ext cx="146304" cy="120700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456432"/>
            <a:ext cx="1097280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04D"/>
                </a:solidFill>
                <a:latin typeface="Calibri"/>
              </a:rPr>
              <a:t>The weakness both share:  </a:t>
            </a:r>
            <a:r>
              <a:rPr sz="1300" b="0">
                <a:solidFill>
                  <a:srgbClr val="1A1A1A"/>
                </a:solidFill>
                <a:latin typeface="Calibri"/>
              </a:rPr>
              <a:t>either way, the method decides </a:t>
            </a:r>
            <a:r>
              <a:rPr sz="1300" b="1">
                <a:solidFill>
                  <a:srgbClr val="1A1A1A"/>
                </a:solidFill>
                <a:latin typeface="Calibri"/>
              </a:rPr>
              <a:t>per layer how much to cut</a:t>
            </a:r>
            <a:r>
              <a:rPr sz="1300" b="0">
                <a:solidFill>
                  <a:srgbClr val="1A1A1A"/>
                </a:solidFill>
                <a:latin typeface="Calibri"/>
              </a:rPr>
              <a:t>, from a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score (importance / reconstruction at that layer alone).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It is blind to how an </a:t>
            </a:r>
            <a:r>
              <a:rPr sz="1300" b="1">
                <a:solidFill>
                  <a:srgbClr val="C0504D"/>
                </a:solidFill>
                <a:latin typeface="Calibri"/>
              </a:rPr>
              <a:t>early layer's error amplifies downstream</a:t>
            </a:r>
            <a:r>
              <a:rPr sz="1300" b="0">
                <a:solidFill>
                  <a:srgbClr val="525252"/>
                </a:solidFill>
                <a:latin typeface="Calibri"/>
              </a:rPr>
              <a:t> (~30× by the output) — the chain is ignored.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18304"/>
            <a:ext cx="11430000" cy="132588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718304"/>
            <a:ext cx="146304" cy="13258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09744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Our approach:  </a:t>
            </a:r>
            <a:r>
              <a:rPr sz="1300" b="0">
                <a:solidFill>
                  <a:srgbClr val="1A1A1A"/>
                </a:solidFill>
                <a:latin typeface="Calibri"/>
              </a:rPr>
              <a:t>allocate rank by </a:t>
            </a:r>
            <a:r>
              <a:rPr sz="1300" b="1">
                <a:solidFill>
                  <a:srgbClr val="2E8B57"/>
                </a:solidFill>
                <a:latin typeface="Calibri"/>
              </a:rPr>
              <a:t>downstream amplification</a:t>
            </a:r>
            <a:r>
              <a:rPr sz="1300" b="0">
                <a:solidFill>
                  <a:srgbClr val="1A1A1A"/>
                </a:solidFill>
                <a:latin typeface="Calibri"/>
              </a:rPr>
              <a:t> and </a:t>
            </a:r>
            <a:r>
              <a:rPr sz="1300" b="1">
                <a:solidFill>
                  <a:srgbClr val="2E8B57"/>
                </a:solidFill>
                <a:latin typeface="Calibri"/>
              </a:rPr>
              <a:t>cross-layer coupling</a:t>
            </a:r>
            <a:r>
              <a:rPr sz="1300" b="0">
                <a:solidFill>
                  <a:srgbClr val="1A1A1A"/>
                </a:solidFill>
                <a:latin typeface="Calibri"/>
              </a:rPr>
              <a:t>, not a purely local per-layer score.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Protect layers whose errors blow up; compress hard where they damp.   </a:t>
            </a:r>
            <a:r>
              <a:rPr sz="1300" b="1">
                <a:solidFill>
                  <a:srgbClr val="1A1A1A"/>
                </a:solidFill>
                <a:latin typeface="Calibri"/>
              </a:rPr>
              <a:t>Empirically: beats FLAT-LLM at the same budget (next slide).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1:  Compression Error Amplifies with Depth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A layer's </a:t>
            </a:r>
            <a:r>
              <a:rPr sz="1400" b="1">
                <a:solidFill>
                  <a:srgbClr val="C0504D"/>
                </a:solidFill>
                <a:latin typeface="Calibri"/>
              </a:rPr>
              <a:t>local</a:t>
            </a:r>
            <a:r>
              <a:rPr sz="1400" b="1">
                <a:solidFill>
                  <a:srgbClr val="1A1A1A"/>
                </a:solidFill>
                <a:latin typeface="Calibri"/>
              </a:rPr>
              <a:t> error is not its true cost — it propagates to the output, and the amplification depends on depth.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11430000" cy="512064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53896"/>
            <a:ext cx="11064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68B5"/>
                </a:solidFill>
                <a:latin typeface="Calibri"/>
              </a:rPr>
              <a:t>Probe:  </a:t>
            </a:r>
            <a:r>
              <a:rPr sz="1200" b="0">
                <a:solidFill>
                  <a:srgbClr val="525252"/>
                </a:solidFill>
                <a:latin typeface="Calibri"/>
              </a:rPr>
              <a:t>rank-truncate ONE layer's FFN, measure  </a:t>
            </a:r>
            <a:r>
              <a:rPr sz="1200" b="1">
                <a:solidFill>
                  <a:srgbClr val="1A1A1A"/>
                </a:solidFill>
                <a:latin typeface="Calibri"/>
              </a:rPr>
              <a:t>Δ output ÷ Δ local</a:t>
            </a:r>
            <a:r>
              <a:rPr sz="1200" b="0">
                <a:solidFill>
                  <a:srgbClr val="525252"/>
                </a:solidFill>
                <a:latin typeface="Calibri"/>
              </a:rPr>
              <a:t>  = how much its error blows up by the time it reaches the logits.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286000"/>
            <a:ext cx="960120" cy="233172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30.8×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2753189"/>
            <a:ext cx="960120" cy="186453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460581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14.9×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819977"/>
            <a:ext cx="960120" cy="1797742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2527369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13.4×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366553"/>
            <a:ext cx="960120" cy="125116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3073945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5.4×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877242"/>
            <a:ext cx="960120" cy="740477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584634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2.0×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0" y="3923744"/>
            <a:ext cx="960120" cy="693975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3631136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1.8×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4086290"/>
            <a:ext cx="960120" cy="53142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379368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1.2×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L24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260070"/>
            <a:ext cx="960120" cy="35764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0" y="396746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0.7×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956048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amplification = Δe2e ÷ Δlocal   (log scale; L0 = nearest input)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9560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0504D"/>
                </a:solidFill>
                <a:latin typeface="Calibri"/>
              </a:rPr>
              <a:t>early → amplify ~30×    </a:t>
            </a:r>
            <a:r>
              <a:rPr sz="1100" b="1">
                <a:solidFill>
                  <a:srgbClr val="0068B5"/>
                </a:solidFill>
                <a:latin typeface="Calibri"/>
              </a:rPr>
              <a:t>late → damp &lt;1×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C0504D"/>
                </a:solidFill>
                <a:latin typeface="Calibri"/>
              </a:rPr>
              <a:t>Implication:  </a:t>
            </a:r>
            <a:r>
              <a:rPr sz="1300" b="0">
                <a:solidFill>
                  <a:srgbClr val="1A1A1A"/>
                </a:solidFill>
                <a:latin typeface="Calibri"/>
              </a:rPr>
              <a:t>the true cost of compressing a layer varies ~43× by depth.  Methods that allocate rank by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error (FLAT-LLM, ASVD, SVD-LLM) optimize the wrong quantity.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2:  Layer Errors Couple — a Graph, Not Just a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Do layers' compression errors </a:t>
            </a:r>
            <a:r>
              <a:rPr sz="1400" b="1">
                <a:solidFill>
                  <a:srgbClr val="0068B5"/>
                </a:solidFill>
                <a:latin typeface="Calibri"/>
              </a:rPr>
              <a:t>interact</a:t>
            </a:r>
            <a:r>
              <a:rPr sz="1400" b="1">
                <a:solidFill>
                  <a:srgbClr val="1A1A1A"/>
                </a:solidFill>
                <a:latin typeface="Calibri"/>
              </a:rPr>
              <a:t>?  If so, rank must be allocated jointly, not greedily per-layer.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44752"/>
            <a:ext cx="1143000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146304" cy="118872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719072"/>
            <a:ext cx="658368" cy="65836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59105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A300"/>
                </a:solidFill>
                <a:latin typeface="Calibri"/>
              </a:rPr>
              <a:t>Errors are non-additive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1993392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Compressing two layers together ≠ sum of each alone.  Interaction (mean 0.60) is large — joint effects matter.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61488"/>
            <a:ext cx="11430000" cy="1188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761488"/>
            <a:ext cx="146304" cy="11887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3035808"/>
            <a:ext cx="658368" cy="65836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063240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|cos|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290779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68B5"/>
                </a:solidFill>
                <a:latin typeface="Calibri"/>
              </a:rPr>
              <a:t>Coupling is local (banded)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3310128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Error directions align for nearby layers, decay with distance:  adjacent 0.46  ›  distant 0.28.  A banded graph.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78224"/>
            <a:ext cx="11430000" cy="118872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078224"/>
            <a:ext cx="146304" cy="11887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512" y="4352544"/>
            <a:ext cx="658368" cy="65836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379976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28–31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45336" y="422452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0504D"/>
                </a:solidFill>
                <a:latin typeface="Calibri"/>
              </a:rPr>
              <a:t>The tail decouples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45336" y="4626864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The final block is weakly coupled to all others (|cos| 0.12–0.24) — a separate, compressible group.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The adjacency is real: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banded error-coupling graph over the residual stream → rank allocation is a </a:t>
            </a:r>
            <a:r>
              <a:rPr sz="1300" b="1">
                <a:solidFill>
                  <a:srgbClr val="1A1A1A"/>
                </a:solidFill>
                <a:latin typeface="Calibri"/>
              </a:rPr>
              <a:t>joint</a:t>
            </a:r>
            <a:r>
              <a:rPr sz="1300" b="0">
                <a:solidFill>
                  <a:srgbClr val="1A1A1A"/>
                </a:solidFill>
                <a:latin typeface="Calibri"/>
              </a:rPr>
              <a:t> problem, which per-layer greedy methods cannot solve.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How the Three Methods Allocate the Rank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Every method spends the </a:t>
            </a:r>
            <a:r>
              <a:rPr sz="1400" b="1">
                <a:solidFill>
                  <a:srgbClr val="2E8B57"/>
                </a:solidFill>
                <a:latin typeface="Calibri"/>
              </a:rPr>
              <a:t>same total rank</a:t>
            </a:r>
            <a:r>
              <a:rPr sz="1400" b="1">
                <a:solidFill>
                  <a:srgbClr val="1A1A1A"/>
                </a:solidFill>
                <a:latin typeface="Calibri"/>
              </a:rPr>
              <a:t> — they differ only in </a:t>
            </a:r>
            <a:r>
              <a:rPr sz="1400" b="1">
                <a:solidFill>
                  <a:srgbClr val="0068B5"/>
                </a:solidFill>
                <a:latin typeface="Calibri"/>
              </a:rPr>
              <a:t>which layers get more.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3685032" cy="4434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89888"/>
            <a:ext cx="3685032" cy="91440"/>
          </a:xfrm>
          <a:prstGeom prst="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32826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Uniform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48256"/>
            <a:ext cx="32826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Give every layer the same rank.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8947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7507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57814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6374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66682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5242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75549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84109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84417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92977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93284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01844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02152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09744"/>
            <a:ext cx="3282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rank per layer  (L0 → L31)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102352"/>
            <a:ext cx="3282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E9E9E"/>
                </a:solidFill>
                <a:latin typeface="Calibri"/>
              </a:rPr>
              <a:t>Protects:  </a:t>
            </a:r>
            <a:r>
              <a:rPr sz="1100" b="0">
                <a:solidFill>
                  <a:srgbClr val="525252"/>
                </a:solidFill>
                <a:latin typeface="Calibri"/>
              </a:rPr>
              <a:t>Uses no signal at all — the naive baseline.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38244" y="1389888"/>
            <a:ext cx="3685032" cy="44348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38244" y="1389888"/>
            <a:ext cx="3685032" cy="9144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9412" y="1591056"/>
            <a:ext cx="32826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FLAT-LLM  (SOTA)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9412" y="2048256"/>
            <a:ext cx="32826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Rank set by block-influence (how much a layer rotates the residual).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12564" y="3218688"/>
            <a:ext cx="274320" cy="1280160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21124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21431" y="3705148"/>
            <a:ext cx="274320" cy="793699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29991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30298" y="3705148"/>
            <a:ext cx="274320" cy="793699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8858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39166" y="3794760"/>
            <a:ext cx="274320" cy="704088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47726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8033" y="3845966"/>
            <a:ext cx="274320" cy="652881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6593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56901" y="4127601"/>
            <a:ext cx="274320" cy="371246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5461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65768" y="3999585"/>
            <a:ext cx="274320" cy="499262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74328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74636" y="3308299"/>
            <a:ext cx="274320" cy="1190548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83196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9412" y="4809744"/>
            <a:ext cx="3282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rank per layer  (L0 → L31)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9412" y="5102352"/>
            <a:ext cx="3282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A300"/>
                </a:solidFill>
                <a:latin typeface="Calibri"/>
              </a:rPr>
              <a:t>Protects:  </a:t>
            </a:r>
            <a:r>
              <a:rPr sz="1100" b="0">
                <a:solidFill>
                  <a:srgbClr val="525252"/>
                </a:solidFill>
                <a:latin typeface="Calibri"/>
              </a:rPr>
              <a:t>Protects boundary layers (0 &amp; 31); compresses the middle.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10728" y="1389888"/>
            <a:ext cx="3685032" cy="443484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10728" y="1389888"/>
            <a:ext cx="3685032" cy="914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11896" y="1591056"/>
            <a:ext cx="32826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8B57"/>
                </a:solidFill>
                <a:latin typeface="Calibri"/>
              </a:rPr>
              <a:t>Ours — amplification-joint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11896" y="2048256"/>
            <a:ext cx="32826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Rank set by measured downstream amplification, allocated jointly across coupled layers.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85048" y="3769156"/>
            <a:ext cx="274320" cy="729691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93608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793915" y="3346704"/>
            <a:ext cx="274320" cy="115214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02475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02782" y="3346704"/>
            <a:ext cx="274320" cy="115214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11342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11650" y="3833164"/>
            <a:ext cx="274320" cy="665683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20210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020517" y="3922776"/>
            <a:ext cx="274320" cy="576072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29077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16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29385" y="3986784"/>
            <a:ext cx="274320" cy="512063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337945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24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838252" y="4025188"/>
            <a:ext cx="274320" cy="473659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46812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247120" y="4025188"/>
            <a:ext cx="274320" cy="473659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155680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11896" y="4809744"/>
            <a:ext cx="3282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rank per layer  (L0 → L31)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11896" y="5102352"/>
            <a:ext cx="3282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8B57"/>
                </a:solidFill>
                <a:latin typeface="Calibri"/>
              </a:rPr>
              <a:t>Protects:  </a:t>
            </a:r>
            <a:r>
              <a:rPr sz="1100" b="0">
                <a:solidFill>
                  <a:srgbClr val="525252"/>
                </a:solidFill>
                <a:latin typeface="Calibri"/>
              </a:rPr>
              <a:t>Protects high-impact early / mid layers (2–5); drains the damping tail.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5989320"/>
            <a:ext cx="11430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Same budget, different shape — next slide: which shape gives the lowest perplexity.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3:  Amplification-Aware Allocation Beats FLAT-LLM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Same low-rank primitive, same total budget (</a:t>
            </a:r>
            <a:r>
              <a:rPr sz="1400" b="1">
                <a:solidFill>
                  <a:srgbClr val="2E8B57"/>
                </a:solidFill>
                <a:latin typeface="Calibri"/>
              </a:rPr>
              <a:t>keep 50%</a:t>
            </a:r>
            <a:r>
              <a:rPr sz="1400" b="1">
                <a:solidFill>
                  <a:srgbClr val="1A1A1A"/>
                </a:solidFill>
                <a:latin typeface="Calibri"/>
              </a:rPr>
              <a:t>), Llama-2-7B WikiText perplexity — only the </a:t>
            </a:r>
            <a:r>
              <a:rPr sz="1400" b="1">
                <a:solidFill>
                  <a:srgbClr val="2E8B57"/>
                </a:solidFill>
                <a:latin typeface="Calibri"/>
              </a:rPr>
              <a:t>allocation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differs.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00200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No compression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the full, uncompressed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645920"/>
            <a:ext cx="2384170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20178" y="168249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6.87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258568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Uniform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every layer gets the SAME rank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304288"/>
            <a:ext cx="6035040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8" y="234086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17.39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916936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FLAT-LLM (SOTA)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rank set by block-influence 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962656"/>
            <a:ext cx="5052914" cy="420624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88922" y="2999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14.56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575304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Ours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more rank to high-amplification layers, jointly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3621024"/>
            <a:ext cx="4844689" cy="42062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80697" y="3657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8B57"/>
                </a:solidFill>
                <a:latin typeface="Calibri"/>
              </a:rPr>
              <a:t>13.96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26110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perplexity   (lower = better)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90288"/>
            <a:ext cx="5623560" cy="841248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590288"/>
            <a:ext cx="146304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8B57"/>
                </a:solidFill>
                <a:latin typeface="Calibri"/>
              </a:rPr>
              <a:t>−4.2%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FLAT-LLM  (faithful angular-BI baseline)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590288"/>
            <a:ext cx="5623560" cy="8412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590288"/>
            <a:ext cx="146304" cy="84124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068B5"/>
                </a:solidFill>
                <a:latin typeface="Calibri"/>
              </a:rPr>
              <a:t>−19.7%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Uniform allocation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77840"/>
            <a:ext cx="11430000" cy="868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577840"/>
            <a:ext cx="146304" cy="8686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50992"/>
            <a:ext cx="10972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A300"/>
                </a:solidFill>
                <a:latin typeface="Calibri"/>
              </a:rPr>
              <a:t>Why we win — the signals disagree:  </a:t>
            </a:r>
            <a:r>
              <a:rPr sz="1200" b="0">
                <a:solidFill>
                  <a:srgbClr val="1A1A1A"/>
                </a:solidFill>
                <a:latin typeface="Calibri"/>
              </a:rPr>
              <a:t>FLAT-LLM's block-influence (how much a layer rotates the residual) favors boundary layers 0 &amp; 31;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amplification instead protects high-downstream-impact mid-early layers (2–5) and drains the damping tail.  </a:t>
            </a:r>
            <a:r>
              <a:rPr sz="1200" b="1">
                <a:solidFill>
                  <a:srgbClr val="1A1A1A"/>
                </a:solidFill>
                <a:latin typeface="Calibri"/>
              </a:rPr>
              <a:t>Amp captures sensitivity BI misses.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