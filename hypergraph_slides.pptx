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0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One ratio for every block cannot express three real differences between blocks: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60000"/>
            <a:ext cx="11430000" cy="143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60000"/>
            <a:ext cx="150000" cy="143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760" y="1735000"/>
            <a:ext cx="680000" cy="68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760" y="179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760" y="147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Some blocks are nearly dead weight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Block sensitivity (output change when a block is bypassed) varies widely —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a few blocks are close to identity, yet uniform pruning still keeps and shrinks them,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spending MAC budget on blocks that contribute almost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760" y="249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0504D"/>
                </a:solidFill>
                <a:latin typeface="Calibri"/>
              </a:rPr>
              <a:t>isomorphic: depth ignored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60" y="151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5760" y="159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C0504D"/>
                </a:solidFill>
                <a:latin typeface="Calibri"/>
              </a:rPr>
              <a:t>→  S_min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remove them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0000"/>
            <a:ext cx="11430000" cy="143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940000"/>
            <a:ext cx="150000" cy="14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760" y="3315000"/>
            <a:ext cx="680000" cy="68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760" y="337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760" y="305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300"/>
                </a:solidFill>
                <a:latin typeface="Calibri"/>
              </a:rPr>
              <a:t>Blocks are not equally important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Taylor importance (|grad × weight|) differs block-to-block. One global ratio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over-prunes the critical blocks (accuracy drops) and under-prunes the redundant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ones (budget wasted) — the cut lands in exactly the wrong places.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760" y="407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A300"/>
                </a:solidFill>
                <a:latin typeface="Calibri"/>
              </a:rPr>
              <a:t>isomorphic: width is flat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60" y="309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5760" y="317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FFA300"/>
                </a:solidFill>
                <a:latin typeface="Calibri"/>
              </a:rPr>
              <a:t>→  θ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per-group ratios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20000"/>
            <a:ext cx="11430000" cy="143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20000"/>
            <a:ext cx="150000" cy="143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760" y="4895000"/>
            <a:ext cx="680000" cy="68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760" y="495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5760" y="463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8B5"/>
                </a:solidFill>
                <a:latin typeface="Calibri"/>
              </a:rPr>
              <a:t>Block importances are not independent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Some blocks rise and fall in importance together (their scores are correlated).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Pruning each block in isolation ignores that a surviving block may depend on a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neighbour you just pruned — the decisions should inform each other.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5760" y="565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68B5"/>
                </a:solidFill>
                <a:latin typeface="Calibri"/>
              </a:rPr>
              <a:t>isomorphic: coupling ignored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5760" y="467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5760" y="475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0068B5"/>
                </a:solidFill>
                <a:latin typeface="Calibri"/>
              </a:rPr>
              <a:t>→  α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functional edges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9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7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576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8588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6600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4612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4588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588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2600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0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50612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612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8624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8624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20000"/>
            <a:ext cx="110000" cy="9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45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0576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85880" y="297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4612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576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S=.90</a:t>
            </a:r>
          </a:p>
        </p:txBody>
      </p:sp>
      <p:sp>
        <p:nvSpPr>
          <p:cNvPr id="30" name="Oval 29"/>
          <p:cNvSpPr/>
          <p:nvPr/>
        </p:nvSpPr>
        <p:spPr>
          <a:xfrm>
            <a:off x="574588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588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588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S=.85</a:t>
            </a:r>
          </a:p>
        </p:txBody>
      </p:sp>
      <p:sp>
        <p:nvSpPr>
          <p:cNvPr id="33" name="Oval 32"/>
          <p:cNvSpPr/>
          <p:nvPr/>
        </p:nvSpPr>
        <p:spPr>
          <a:xfrm>
            <a:off x="7626000" y="275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00" y="282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600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Calibri"/>
              </a:rPr>
              <a:t>S=.35</a:t>
            </a:r>
          </a:p>
        </p:txBody>
      </p:sp>
      <p:sp>
        <p:nvSpPr>
          <p:cNvPr id="36" name="Oval 35"/>
          <p:cNvSpPr/>
          <p:nvPr/>
        </p:nvSpPr>
        <p:spPr>
          <a:xfrm>
            <a:off x="950612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612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2612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S=.55</a:t>
            </a:r>
          </a:p>
        </p:txBody>
      </p:sp>
      <p:sp>
        <p:nvSpPr>
          <p:cNvPr id="39" name="Oval 38"/>
          <p:cNvSpPr/>
          <p:nvPr/>
        </p:nvSpPr>
        <p:spPr>
          <a:xfrm>
            <a:off x="1138624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8624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0624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58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00000"/>
            <a:ext cx="110000" cy="9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60" y="373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 {B0,B1} high → r↓ ,   {B3,B4} low → r↑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0576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85880" y="425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4612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65760" y="3880000"/>
            <a:ext cx="2320120" cy="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6576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8588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7582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0AD47"/>
                </a:solidFill>
                <a:latin typeface="Calibri"/>
              </a:rPr>
              <a:t>Group A · r↓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6120" y="3880000"/>
            <a:ext cx="2320120" cy="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0612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82624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91618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504D"/>
                </a:solidFill>
                <a:latin typeface="Calibri"/>
              </a:rPr>
              <a:t>Group B · r↑</a:t>
            </a:r>
          </a:p>
        </p:txBody>
      </p:sp>
      <p:sp>
        <p:nvSpPr>
          <p:cNvPr id="56" name="Oval 55"/>
          <p:cNvSpPr/>
          <p:nvPr/>
        </p:nvSpPr>
        <p:spPr>
          <a:xfrm>
            <a:off x="386576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76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576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I=.45</a:t>
            </a:r>
          </a:p>
        </p:txBody>
      </p:sp>
      <p:sp>
        <p:nvSpPr>
          <p:cNvPr id="59" name="Oval 58"/>
          <p:cNvSpPr/>
          <p:nvPr/>
        </p:nvSpPr>
        <p:spPr>
          <a:xfrm>
            <a:off x="574588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588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588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I=.42</a:t>
            </a:r>
          </a:p>
        </p:txBody>
      </p:sp>
      <p:sp>
        <p:nvSpPr>
          <p:cNvPr id="62" name="Oval 61"/>
          <p:cNvSpPr/>
          <p:nvPr/>
        </p:nvSpPr>
        <p:spPr>
          <a:xfrm>
            <a:off x="7626000" y="403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00" y="410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64" name="Oval 63"/>
          <p:cNvSpPr/>
          <p:nvPr/>
        </p:nvSpPr>
        <p:spPr>
          <a:xfrm>
            <a:off x="950612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612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2612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I=.24</a:t>
            </a:r>
          </a:p>
        </p:txBody>
      </p:sp>
      <p:sp>
        <p:nvSpPr>
          <p:cNvPr id="67" name="Oval 66"/>
          <p:cNvSpPr/>
          <p:nvPr/>
        </p:nvSpPr>
        <p:spPr>
          <a:xfrm>
            <a:off x="1138624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38624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624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980000"/>
            <a:ext cx="110000" cy="9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5760" y="501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couple within groups:  B0–B1  and  B3–B4  boost each other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30576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185880" y="553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4612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08576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5760" y="501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96588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72612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6120" y="516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60624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86576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6576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83" name="Oval 82"/>
          <p:cNvSpPr/>
          <p:nvPr/>
        </p:nvSpPr>
        <p:spPr>
          <a:xfrm>
            <a:off x="574588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4588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85" name="Oval 84"/>
          <p:cNvSpPr/>
          <p:nvPr/>
        </p:nvSpPr>
        <p:spPr>
          <a:xfrm>
            <a:off x="7626000" y="531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26000" y="538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87" name="Oval 86"/>
          <p:cNvSpPr/>
          <p:nvPr/>
        </p:nvSpPr>
        <p:spPr>
          <a:xfrm>
            <a:off x="950612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0612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89" name="Oval 88"/>
          <p:cNvSpPr/>
          <p:nvPr/>
        </p:nvSpPr>
        <p:spPr>
          <a:xfrm>
            <a:off x="1138624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38624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Finding 1:  Compression Error Amplifies with Depth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 layer's </a:t>
            </a:r>
            <a:r>
              <a:rPr sz="1500" b="1">
                <a:solidFill>
                  <a:srgbClr val="C0504D"/>
                </a:solidFill>
                <a:latin typeface="Calibri"/>
              </a:rPr>
              <a:t>local</a:t>
            </a:r>
            <a:r>
              <a:rPr sz="1500" b="1">
                <a:solidFill>
                  <a:srgbClr val="1A1A1A"/>
                </a:solidFill>
                <a:latin typeface="Calibri"/>
              </a:rPr>
              <a:t> error is not its true cost — it propagates to the output, and the amplification depends on depth.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68B5"/>
                </a:solidFill>
                <a:latin typeface="Calibri"/>
              </a:rPr>
              <a:t>Probe:  </a:t>
            </a:r>
            <a:r>
              <a:rPr sz="1200" b="0">
                <a:solidFill>
                  <a:srgbClr val="525252"/>
                </a:solidFill>
                <a:latin typeface="Calibri"/>
              </a:rPr>
              <a:t>rank-truncate ONE layer's FFN, measure </a:t>
            </a:r>
            <a:r>
              <a:rPr sz="1200" b="1">
                <a:solidFill>
                  <a:srgbClr val="1A1A1A"/>
                </a:solidFill>
                <a:latin typeface="Calibri"/>
              </a:rPr>
              <a:t>Δ end-to-end output ÷ Δ local output</a:t>
            </a:r>
            <a:r>
              <a:rPr sz="1200" b="0">
                <a:solidFill>
                  <a:srgbClr val="525252"/>
                </a:solidFill>
                <a:latin typeface="Calibri"/>
              </a:rPr>
              <a:t>   ( = how much that layer's error blows up by the time it reaches the logits 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-594359"/>
            <a:ext cx="960120" cy="283464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-8869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30.8×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-26404"/>
            <a:ext cx="960120" cy="2266684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57400" y="-31901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14.9×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54789"/>
            <a:ext cx="960120" cy="218549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-23781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13.4×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719254"/>
            <a:ext cx="960120" cy="1521025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426646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5.4×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340091"/>
            <a:ext cx="960120" cy="900188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1047483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2.0×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0" y="1396623"/>
            <a:ext cx="960120" cy="843656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110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1.8×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1594228"/>
            <a:ext cx="960120" cy="646051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13016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1.2×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L24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1805490"/>
            <a:ext cx="960120" cy="43478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2680" y="151288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0.7×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8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33172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amplification (Δe2e / Δlocal)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166360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0504D"/>
                </a:solidFill>
                <a:latin typeface="Calibri"/>
              </a:rPr>
              <a:t>early layers  →  amplify ~30×</a:t>
            </a:r>
            <a:r>
              <a:rPr sz="1100" b="1">
                <a:solidFill>
                  <a:srgbClr val="0068B5"/>
                </a:solidFill>
                <a:latin typeface="Calibri"/>
              </a:rPr>
              <a:t>        late layers  →  damp (&lt;1×)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897880"/>
            <a:ext cx="11430000" cy="65836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897880"/>
            <a:ext cx="146304" cy="65836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96188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0504D"/>
                </a:solidFill>
                <a:latin typeface="Calibri"/>
              </a:rPr>
              <a:t>Implication:  </a:t>
            </a:r>
            <a:r>
              <a:rPr sz="1300" b="0">
                <a:solidFill>
                  <a:srgbClr val="1A1A1A"/>
                </a:solidFill>
                <a:latin typeface="Calibri"/>
              </a:rPr>
              <a:t>the true cost of compressing a layer varies ~43× by depth. Methods that allocate rank by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error (FLAT-LLM, ASVD, SVD-LLM) optimize the wrong quantity.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Finding 2:  Layer Errors Couple — a Graph, Not Just a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Do layers' compression errors </a:t>
            </a:r>
            <a:r>
              <a:rPr sz="1500" b="1">
                <a:solidFill>
                  <a:srgbClr val="0068B5"/>
                </a:solidFill>
                <a:latin typeface="Calibri"/>
              </a:rPr>
              <a:t>interact</a:t>
            </a:r>
            <a:r>
              <a:rPr sz="1500" b="1">
                <a:solidFill>
                  <a:srgbClr val="1A1A1A"/>
                </a:solidFill>
                <a:latin typeface="Calibri"/>
              </a:rPr>
              <a:t>?  If so, rank must be allocated jointly, not greedily per-layer.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81328"/>
            <a:ext cx="11430000" cy="1243584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46304" cy="1243584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764792"/>
            <a:ext cx="676656" cy="676656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792224"/>
            <a:ext cx="676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6459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A300"/>
                </a:solidFill>
                <a:latin typeface="Calibri"/>
              </a:rPr>
              <a:t>Errors are non-additive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204825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Compressing two layers together ≠ sum of each alone.  Interaction ι (mean 0.60) is large — joint effects matter.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52928"/>
            <a:ext cx="11430000" cy="1243584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852928"/>
            <a:ext cx="146304" cy="1243584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3136392"/>
            <a:ext cx="676656" cy="676656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163824"/>
            <a:ext cx="676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|cos|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30175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68B5"/>
                </a:solidFill>
                <a:latin typeface="Calibri"/>
              </a:rPr>
              <a:t>Coupling is local (banded)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341985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Error directions align for nearby layers, decay with distance:  adjacent 0.46  ›  distant 0.28.  A banded graph.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24528"/>
            <a:ext cx="11430000" cy="1243584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224528"/>
            <a:ext cx="146304" cy="124358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512" y="4507992"/>
            <a:ext cx="676656" cy="676656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4535424"/>
            <a:ext cx="676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28–31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45336" y="43891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0504D"/>
                </a:solidFill>
                <a:latin typeface="Calibri"/>
              </a:rPr>
              <a:t>The tail decouples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45336" y="479145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Final block (layers 28–31) is weakly coupled to all others (|cos| 0.12–0.24) — a separate, compressible group.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97880"/>
            <a:ext cx="1143000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897880"/>
            <a:ext cx="146304" cy="65836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6188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The adjacency is real: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banded error-coupling graph over the residual stream.  Rank allocation is a </a:t>
            </a:r>
            <a:r>
              <a:rPr sz="1300" b="1">
                <a:solidFill>
                  <a:srgbClr val="1A1A1A"/>
                </a:solidFill>
                <a:latin typeface="Calibri"/>
              </a:rPr>
              <a:t>joint</a:t>
            </a:r>
            <a:r>
              <a:rPr sz="1300" b="0">
                <a:solidFill>
                  <a:srgbClr val="1A1A1A"/>
                </a:solidFill>
                <a:latin typeface="Calibri"/>
              </a:rPr>
              <a:t> problem — exactly what per-layer greedy methods cannot solve.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Finding 3:  Amplification-Aware Allocation Beats FLAT-LLM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Same low-rank primitive, same total budget (</a:t>
            </a:r>
            <a:r>
              <a:rPr sz="1500" b="1">
                <a:solidFill>
                  <a:srgbClr val="2E8B57"/>
                </a:solidFill>
                <a:latin typeface="Calibri"/>
              </a:rPr>
              <a:t>keep 50%</a:t>
            </a:r>
            <a:r>
              <a:rPr sz="1500" b="1">
                <a:solidFill>
                  <a:srgbClr val="1A1A1A"/>
                </a:solidFill>
                <a:latin typeface="Calibri"/>
              </a:rPr>
              <a:t>), Llama-2-7B WikiText perplexity — only the </a:t>
            </a:r>
            <a:r>
              <a:rPr sz="1500" b="1">
                <a:solidFill>
                  <a:srgbClr val="2E8B57"/>
                </a:solidFill>
                <a:latin typeface="Calibri"/>
              </a:rPr>
              <a:t>allocation</a:t>
            </a:r>
            <a:r>
              <a:rPr sz="1500" b="1">
                <a:solidFill>
                  <a:srgbClr val="1A1A1A"/>
                </a:solidFill>
                <a:latin typeface="Calibri"/>
              </a:rPr>
              <a:t> differs.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190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No compression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664208"/>
            <a:ext cx="2709284" cy="420624"/>
          </a:xfrm>
          <a:prstGeom prst="roundRect">
            <a:avLst/>
          </a:prstGeom>
          <a:solidFill>
            <a:srgbClr val="52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1244" y="170078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525252"/>
                </a:solidFill>
                <a:latin typeface="Calibri"/>
              </a:rPr>
              <a:t>6.87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Uniform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2304288"/>
            <a:ext cx="6858000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09960" y="234086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17.39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99923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FLAT-LLM  (SOTA)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944368"/>
            <a:ext cx="5741948" cy="420624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3908" y="29809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14.56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3931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Ours (amplification-joint)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3584448"/>
            <a:ext cx="5505329" cy="42062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57289" y="36210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8B57"/>
                </a:solidFill>
                <a:latin typeface="Calibri"/>
              </a:rPr>
              <a:t>13.96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20624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perplexity  (lower = better)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17720"/>
            <a:ext cx="5623560" cy="841248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617720"/>
            <a:ext cx="146304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70001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E8B57"/>
                </a:solidFill>
                <a:latin typeface="Calibri"/>
              </a:rPr>
              <a:t>−4.2%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FLAT-LLM  (faithful angular-BI baseline)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617720"/>
            <a:ext cx="5623560" cy="8412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617720"/>
            <a:ext cx="146304" cy="84124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70001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68B5"/>
                </a:solidFill>
                <a:latin typeface="Calibri"/>
              </a:rPr>
              <a:t>−19.7%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Uniform allocation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05272"/>
            <a:ext cx="11430000" cy="868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605272"/>
            <a:ext cx="146304" cy="8686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6928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A300"/>
                </a:solidFill>
                <a:latin typeface="Calibri"/>
              </a:rPr>
              <a:t>Why we win — the signals disagree:  </a:t>
            </a:r>
            <a:r>
              <a:rPr sz="1200" b="0">
                <a:solidFill>
                  <a:srgbClr val="1A1A1A"/>
                </a:solidFill>
                <a:latin typeface="Calibri"/>
              </a:rPr>
              <a:t>FLAT-LLM’s angular BI protects boundary layers (0, 31, high residual rotation);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amplification instead protects high-downstream-impact mid-early layers (2–5) and drains the damping tail.  </a:t>
            </a:r>
            <a:r>
              <a:rPr sz="1200" b="1">
                <a:solidFill>
                  <a:srgbClr val="1A1A1A"/>
                </a:solidFill>
                <a:latin typeface="Calibri"/>
              </a:rPr>
              <a:t>Amp captures sensitivity BI misses.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