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00000"/>
            <a:ext cx="1106424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Typed Pruning Hypergraph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60000"/>
            <a:ext cx="1106424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BBEDF"/>
                </a:solidFill>
                <a:latin typeface="Calibri"/>
              </a:rPr>
              <a:t>Deciding what to prune by structure, importance, and coupling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2330000"/>
            <a:ext cx="6309360" cy="3048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model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 pretrained Vision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Transformer (DeiT-Small)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task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Cut its compute by ~45%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with minimal accuracy loss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question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WHICH parts to remove,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and by HOW MUCH?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DEE"/>
                </a:solidFill>
                <a:latin typeface="Calibri"/>
              </a:rPr>
              <a:t>Shahrzad Esmat   ·   Iowa State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A300"/>
                </a:solidFill>
                <a:latin typeface="Calibri"/>
              </a:rPr>
              <a:t>We generalize Isomorphic Pruning (Fang et al.) with a typed dependency graph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Background: How Do We Decide What to Prune?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Network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Local Pruning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80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9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545760" y="1600000"/>
            <a:ext cx="0" cy="390000"/>
          </a:xfrm>
          <a:prstGeom prst="bentConnector3">
            <a:avLst/>
          </a:prstGeom>
          <a:ln w="15875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80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5545760" y="2220000"/>
            <a:ext cx="0" cy="39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80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95760" y="2800000"/>
            <a:ext cx="510000" cy="47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545760" y="2840000"/>
            <a:ext cx="0" cy="39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80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95760" y="3420000"/>
            <a:ext cx="510000" cy="47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545760" y="3460000"/>
            <a:ext cx="0" cy="390000"/>
          </a:xfrm>
          <a:prstGeom prst="bentConnector3">
            <a:avLst/>
          </a:prstGeom>
          <a:ln w="15875">
            <a:solidFill>
              <a:srgbClr val="FF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0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rank within each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Global Pruning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78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8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75760" y="218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8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75760" y="280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8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545760" y="1560000"/>
            <a:ext cx="0" cy="2330000"/>
          </a:xfrm>
          <a:prstGeom prst="bentConnector3">
            <a:avLst/>
          </a:prstGeom>
          <a:ln w="19050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38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0068B5"/>
                </a:solidFill>
                <a:latin typeface="Calibri"/>
              </a:rPr>
              <a:t>one global ranking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Isomorphic (grouped)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76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95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6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5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76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955760" y="280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6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95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65760" y="3930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A1A1A"/>
                </a:solidFill>
                <a:latin typeface="Calibri"/>
              </a:rPr>
              <a:t>group by structure type,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FFA300"/>
                </a:solidFill>
                <a:latin typeface="Calibri"/>
              </a:rPr>
              <a:t>rank within each group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098000"/>
            <a:ext cx="1143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Comparing importance across different structure types is unfair (different scales). Isomorphic pruning groups parameters by structural type and ranks WITHIN each group.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Method in the Same View: Extending Isomorphic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Pretrained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5760" y="218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5760" y="281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5760" y="291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5760" y="343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all blocks kept,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one uniform ratio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+ S_min  (depth)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805760" y="156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95760" y="1560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5760" y="218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95760" y="2185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0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0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05760" y="343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95760" y="3435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B2 removed entirely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(S &lt; S_min)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+ θ  (groups)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785760" y="1560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79760" y="1560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5760" y="1660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85760" y="2185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79760" y="2185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2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25760" y="228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8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85760" y="3435000"/>
            <a:ext cx="1700000" cy="46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69760" y="3435000"/>
            <a:ext cx="816000" cy="46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2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25760" y="353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504D"/>
                </a:solidFill>
                <a:latin typeface="Calibri"/>
              </a:rPr>
              <a:t>r 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8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groups → own ratio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green r↓ , red r↑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+ α  (coupling)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9765760" y="1560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159760" y="1560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0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05760" y="1660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765760" y="2185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159760" y="2185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0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05760" y="228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6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6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65760" y="3435000"/>
            <a:ext cx="1700000" cy="46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49760" y="3435000"/>
            <a:ext cx="816000" cy="46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0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05760" y="353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504D"/>
                </a:solidFill>
                <a:latin typeface="Calibri"/>
              </a:rPr>
              <a:t>r ↑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1465760" y="1790000"/>
            <a:ext cx="12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585760" y="1790000"/>
            <a:ext cx="0" cy="625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1465760" y="2415000"/>
            <a:ext cx="12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1615760" y="1992500"/>
            <a:ext cx="5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6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couple same group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B0–B1  (edge E_f)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6218000"/>
            <a:ext cx="1143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Same column view as the field's — but each step here is OUR addition. Turn all three off (no removal, one group, no edges) → back to isomorphic pruning.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Isomorphic Pruning: One Ratio Per Structure 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8B5"/>
                </a:solidFill>
                <a:latin typeface="Calibri"/>
              </a:rPr>
              <a:t>The baseline we build on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Two structure types, each pruned by ONE ratio: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Attention — shrink head_dim inside each head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MLP — shrink the hidden dimension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Every one of the 12 blocks gets the SAME ratio.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The residual stream (embed dim) is never cut —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only the internals of each block shrink.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Simple and effective — but it treats a critical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block exactly like a redundant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identical treatment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00000" y="13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400" y="13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2000" y="13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1600" y="13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0000" y="14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0  ·  Attn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2000" y="14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00000" y="17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400" y="17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2000" y="17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911600" y="17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60000" y="18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  ·  Attn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2000" y="18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0000" y="220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400" y="220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2000" y="220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11600" y="220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60000" y="225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2  ·  Attn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2000" y="225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0000" y="261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52400" y="261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72000" y="261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11600" y="261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60000" y="266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3  ·  Attn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2000" y="266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00000" y="302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52400" y="302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2000" y="302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11600" y="302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60000" y="307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4  ·  Attn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2000" y="307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00000" y="343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52400" y="343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72000" y="343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911600" y="343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0000" y="348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5  ·  Attn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2000" y="348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00000" y="384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452400" y="384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72000" y="384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11600" y="384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60000" y="389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6  ·  Attn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2000" y="389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00000" y="425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400" y="425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72000" y="425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911600" y="425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60000" y="430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7  · 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2000" y="430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0000" y="466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452400" y="466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72000" y="466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911600" y="466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60000" y="471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8  ·  Attn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2000" y="471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00000" y="507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52400" y="507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72000" y="507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911600" y="507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60000" y="512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9  ·  Attn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2000" y="512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00000" y="54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400" y="54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72000" y="54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911600" y="54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60000" y="55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10  ·  Attn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32000" y="55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00000" y="58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452400" y="58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72000" y="58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911600" y="58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60000" y="59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11  ·  Attn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32000" y="59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00000" y="632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blue / orange = pruned portion — same fraction in every block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Pruning: Depth + Per-Group Width + Coupling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A300"/>
                </a:solidFill>
                <a:latin typeface="Calibri"/>
              </a:rPr>
              <a:t>Heterogeneous by design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Same two structure types (Attn, MLP), but the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ratio now varies block-to-block: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C0504D"/>
                </a:solidFill>
                <a:latin typeface="Calibri"/>
              </a:rPr>
              <a:t>• S_min — remove low-sensitivity blocks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(here blocks 3, 4, 5 are deleted)</a:t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70AD47"/>
                </a:solidFill>
                <a:latin typeface="Calibri"/>
              </a:rPr>
              <a:t>• θ — each importance group its own ratio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green = important → pruned less (thin slice)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red = redundant → pruned more (thick slice)</a:t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FFA300"/>
                </a:solidFill>
                <a:latin typeface="Calibri"/>
              </a:rPr>
              <a:t>• α — functional edges couple similar blocks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Residual stream (embed dim) still never cut —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only block internals shrink, just like isomorphic.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FFA300"/>
                </a:solidFill>
                <a:latin typeface="Calibri"/>
              </a:rPr>
              <a:t>Same MAC budget — spent where it costs least.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treated by importance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10000" y="1350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00000" y="1350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70800" y="1350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5000" y="1350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913500" y="1350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0000" y="1390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0 · Attn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5000" y="1390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10000" y="1706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00000" y="170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70800" y="1706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25000" y="170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13500" y="1706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0000" y="174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 · Attn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5000" y="174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10000" y="2062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00000" y="2062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70800" y="2062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25000" y="2062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13500" y="2062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0000" y="2102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2 · Attn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5000" y="2102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00000" y="2418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000" y="2448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3   ✕ removed  (S &lt; S_min)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0000" y="2774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0000" y="2804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4   ✕ removed  (S &lt; S_min)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0000" y="3130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0000" y="3160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5   ✕ removed  (S &lt; S_min)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10000" y="3486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00000" y="348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49500" y="3486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25000" y="348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16250" y="3486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50000" y="352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6 · Attn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75000" y="352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10000" y="3842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00000" y="3842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349500" y="3842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925000" y="3842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16250" y="3842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50000" y="3882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7 · Attn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75000" y="3882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10000" y="4198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00000" y="4198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49500" y="4198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925000" y="4198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016250" y="4198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50000" y="4238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8 ·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75000" y="4238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10000" y="4554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00000" y="4554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349500" y="4554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925000" y="4554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016250" y="4554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50000" y="4594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9 · Attn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75000" y="4594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10000" y="4910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00000" y="4910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349500" y="4910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925000" y="4910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016250" y="4910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50000" y="4950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10 · Attn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75000" y="4950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10000" y="5266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00000" y="526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70800" y="5266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925000" y="526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913500" y="5266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50000" y="530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11 · Attn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75000" y="530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0350000" y="1500000"/>
            <a:ext cx="13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0480000" y="1500000"/>
            <a:ext cx="0" cy="356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10350000" y="1856000"/>
            <a:ext cx="13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510000" y="1568000"/>
            <a:ext cx="5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00000" y="5642000"/>
            <a:ext cx="58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thin slice = pruned less (green) · thick slice = pruned more (red) · grey = removed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What Uniform Pruning Misses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80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Calibri"/>
              </a:rPr>
              <a:t>One ratio for every block cannot express three real differences between blocks: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60000"/>
            <a:ext cx="11430000" cy="143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60000"/>
            <a:ext cx="150000" cy="143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5760" y="1735000"/>
            <a:ext cx="680000" cy="68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5760" y="179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760" y="147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0504D"/>
                </a:solidFill>
                <a:latin typeface="Calibri"/>
              </a:rPr>
              <a:t>Some blocks are nearly dead weight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Block sensitivity (output change when a block is bypassed) varies widely —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a few blocks are close to identity, yet uniform pruning still keeps and shrinks them,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spending MAC budget on blocks that contribute almost nothing.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760" y="249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0504D"/>
                </a:solidFill>
                <a:latin typeface="Calibri"/>
              </a:rPr>
              <a:t>isomorphic: depth ignored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5760" y="151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45760" y="159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C0504D"/>
                </a:solidFill>
                <a:latin typeface="Calibri"/>
              </a:rPr>
              <a:t>→  S_min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remove them entirely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940000"/>
            <a:ext cx="11430000" cy="143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940000"/>
            <a:ext cx="150000" cy="14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5760" y="3315000"/>
            <a:ext cx="680000" cy="680000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760" y="337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45760" y="305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A300"/>
                </a:solidFill>
                <a:latin typeface="Calibri"/>
              </a:rPr>
              <a:t>Blocks are not equally important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Taylor importance (|grad × weight|) differs block-to-block. One global ratio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over-prunes the critical blocks (accuracy drops) and under-prunes the redundant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ones (budget wasted) — the cut lands in exactly the wrong places.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45760" y="407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A300"/>
                </a:solidFill>
                <a:latin typeface="Calibri"/>
              </a:rPr>
              <a:t>isomorphic: width is flat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5760" y="309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5760" y="317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FFA300"/>
                </a:solidFill>
                <a:latin typeface="Calibri"/>
              </a:rPr>
              <a:t>→  θ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per-group ratios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520000"/>
            <a:ext cx="11430000" cy="143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520000"/>
            <a:ext cx="150000" cy="143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5760" y="4895000"/>
            <a:ext cx="680000" cy="68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760" y="495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45760" y="463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68B5"/>
                </a:solidFill>
                <a:latin typeface="Calibri"/>
              </a:rPr>
              <a:t>Block importances are not independent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Some blocks rise and fall in importance together (their scores are correlated).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Pruning each block in isolation ignores that a surviving block may depend on a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neighbour you just pruned — the decisions should inform each other.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45760" y="565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68B5"/>
                </a:solidFill>
                <a:latin typeface="Calibri"/>
              </a:rPr>
              <a:t>isomorphic: coupling ignored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25760" y="467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8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5760" y="475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0068B5"/>
                </a:solidFill>
                <a:latin typeface="Calibri"/>
              </a:rPr>
              <a:t>→  α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functional edges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Key Difference: VainF's Graph  vs  Our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40000"/>
            <a:ext cx="5610240" cy="3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Isomorphic Pruning (VainF)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6576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84250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1925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45760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576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12" name="Oval 11"/>
          <p:cNvSpPr/>
          <p:nvPr/>
        </p:nvSpPr>
        <p:spPr>
          <a:xfrm>
            <a:off x="2022506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2250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14" name="Oval 13"/>
          <p:cNvSpPr/>
          <p:nvPr/>
        </p:nvSpPr>
        <p:spPr>
          <a:xfrm>
            <a:off x="3499252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9252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2</a:t>
            </a:r>
          </a:p>
        </p:txBody>
      </p:sp>
      <p:sp>
        <p:nvSpPr>
          <p:cNvPr id="16" name="Oval 15"/>
          <p:cNvSpPr/>
          <p:nvPr/>
        </p:nvSpPr>
        <p:spPr>
          <a:xfrm>
            <a:off x="4975998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599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Blocks pruned in isolation · one ratio per type · all kept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6000" y="1040000"/>
            <a:ext cx="5610240" cy="3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600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Our Typed Hypergraph  H = (V', E_s, E_f)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21600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69274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16949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06000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06000" y="1510000"/>
            <a:ext cx="4430238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36238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282746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282746" y="1720000"/>
            <a:ext cx="2953492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236238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6396000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600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32" name="Oval 31"/>
          <p:cNvSpPr/>
          <p:nvPr/>
        </p:nvSpPr>
        <p:spPr>
          <a:xfrm>
            <a:off x="7872746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7274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34" name="Oval 33"/>
          <p:cNvSpPr/>
          <p:nvPr/>
        </p:nvSpPr>
        <p:spPr>
          <a:xfrm>
            <a:off x="9349492" y="1980000"/>
            <a:ext cx="820000" cy="820000"/>
          </a:xfrm>
          <a:prstGeom prst="ellipse">
            <a:avLst/>
          </a:prstGeom>
          <a:solidFill>
            <a:srgbClr val="EDEDED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9492" y="2170000"/>
            <a:ext cx="8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9492" y="2840000"/>
            <a:ext cx="9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0504D"/>
                </a:solidFill>
                <a:latin typeface="Calibri"/>
              </a:rPr>
              <a:t>removed</a:t>
            </a:r>
          </a:p>
        </p:txBody>
      </p:sp>
      <p:sp>
        <p:nvSpPr>
          <p:cNvPr id="37" name="Oval 36"/>
          <p:cNvSpPr/>
          <p:nvPr/>
        </p:nvSpPr>
        <p:spPr>
          <a:xfrm>
            <a:off x="10826238" y="1980000"/>
            <a:ext cx="820000" cy="82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2623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600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S_min removes a block · θ colors groups · α adds w_ij edges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20000"/>
            <a:ext cx="11430000" cy="11800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3620000"/>
            <a:ext cx="76200" cy="11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5760" y="3660000"/>
            <a:ext cx="110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8B5"/>
                </a:solidFill>
                <a:latin typeface="Calibri"/>
              </a:rPr>
              <a:t>How to read the graph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5760" y="4060000"/>
            <a:ext cx="520000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65760" y="393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Residual stream  —  </a:t>
            </a:r>
            <a:r>
              <a:rPr sz="1300">
                <a:solidFill>
                  <a:srgbClr val="525252"/>
                </a:solidFill>
                <a:latin typeface="Calibri"/>
              </a:rPr>
              <a:t>data flowing from one block to the next  (both methods)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5760" y="425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5760" y="425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45760" y="425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65760" y="420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E_s  Structural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weights INSIDE one block that must be cut together (qkv·proj·mlp)  —  both methods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5760" y="4600000"/>
            <a:ext cx="520000" cy="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265760" y="447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A300"/>
                </a:solidFill>
                <a:latin typeface="Calibri"/>
              </a:rPr>
              <a:t>E_f  Functional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links TWO blocks with similar importance; lets importance flow between them  —  NEW (ours)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6388000"/>
            <a:ext cx="11430000" cy="33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5760" y="6388000"/>
            <a:ext cx="120000" cy="3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5760" y="6428000"/>
            <a:ext cx="109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Same structural edges as VainF  +  block removal (V')  +  functional edges (E_f).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Three Parameters, Defined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0" y="1020000"/>
            <a:ext cx="3700000" cy="368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6000" y="1020000"/>
            <a:ext cx="3700000" cy="14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0504D"/>
                </a:solidFill>
                <a:latin typeface="Calibri"/>
              </a:rPr>
              <a:t>S_min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depth-pruning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504D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 threshold on block sensitivity — how much the output changes when a block is skipped.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000" y="2900000"/>
            <a:ext cx="3380000" cy="620000"/>
          </a:xfrm>
          <a:prstGeom prst="rect">
            <a:avLst/>
          </a:prstGeom>
          <a:solidFill>
            <a:srgbClr val="F7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C0504D"/>
                </a:solidFill>
                <a:latin typeface="Calibri"/>
              </a:rPr>
              <a:t>S(i) = mean ‖f(x) − f_bypass(x)‖ / ‖f(x)‖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C0504D"/>
                </a:solidFill>
                <a:latin typeface="Calibri"/>
              </a:rPr>
              <a:t>remove block i  if  S(i) &lt; S_min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shrinks the node set V′ — redundant blocks are deleted entirely.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6000" y="1020000"/>
            <a:ext cx="3700000" cy="368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6000" y="1020000"/>
            <a:ext cx="3700000" cy="14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68B5"/>
                </a:solidFill>
                <a:latin typeface="Calibri"/>
              </a:rPr>
              <a:t>θ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grouping threshold (theta)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8B5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Blocks with similar importance are merged into one group; each group gets its own ratio.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6000" y="2900000"/>
            <a:ext cx="3380000" cy="620000"/>
          </a:xfrm>
          <a:prstGeom prst="rect">
            <a:avLst/>
          </a:prstGeom>
          <a:solidFill>
            <a:srgbClr val="C9D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0068B5"/>
                </a:solidFill>
                <a:latin typeface="Calibri"/>
              </a:rPr>
              <a:t>group i, j   if   |Î_i − Î_j| &lt; θ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0068B5"/>
                </a:solidFill>
                <a:latin typeface="Calibri"/>
              </a:rPr>
              <a:t>θ = 1 → one group (uniform);  θ = 0 → all separate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partitions blocks into groups — important groups are pruned less.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6000" y="1020000"/>
            <a:ext cx="3700000" cy="368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6000" y="1020000"/>
            <a:ext cx="3700000" cy="14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A300"/>
                </a:solidFill>
                <a:latin typeface="Calibri"/>
              </a:rPr>
              <a:t>α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coupling strength (alpha)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A300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Adds functional edges between blocks of similar importance and lets them boost each other.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86000" y="2900000"/>
            <a:ext cx="3380000" cy="620000"/>
          </a:xfrm>
          <a:prstGeom prst="rect">
            <a:avLst/>
          </a:prstGeom>
          <a:solidFill>
            <a:srgbClr val="FFE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FFA300"/>
                </a:solidFill>
                <a:latin typeface="Calibri"/>
              </a:rPr>
              <a:t>w_ij = min(I_i, I_j) / max(I_i, I_j)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FFA300"/>
                </a:solidFill>
                <a:latin typeface="Calibri"/>
              </a:rPr>
              <a:t>I↑(j) = I(j) · (1 + α · Σ w_ij·I(i)/Z)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creates E_f — a block's importance rises with its coupled neighbours'.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880000"/>
            <a:ext cx="11430000" cy="68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4880000"/>
            <a:ext cx="150000" cy="6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760" y="4950000"/>
            <a:ext cx="1093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Set  S_min = 0,  θ = 1,  α = 0  →  exactly Isomorphic Pruning (VainF).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FFA300"/>
                </a:solidFill>
                <a:latin typeface="Calibri"/>
              </a:rPr>
              <a:t>VainF is one corner of our space; the three knobs let us search for a better point.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Worked Example: Building the Graph, One Component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20000"/>
            <a:ext cx="11430000" cy="11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0000"/>
            <a:ext cx="110000" cy="8600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5760" y="1150000"/>
            <a:ext cx="3000000" cy="9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FBFBF"/>
                </a:solidFill>
                <a:latin typeface="Calibri"/>
              </a:rPr>
              <a:t>0   Start  =  VainF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All 5 blocks kept · one uniform ratio · no inter-block edges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35760" y="165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208380" y="165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81000" y="165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953620" y="165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865760" y="141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5760" y="153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14" name="Oval 13"/>
          <p:cNvSpPr/>
          <p:nvPr/>
        </p:nvSpPr>
        <p:spPr>
          <a:xfrm>
            <a:off x="5738380" y="141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38380" y="153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16" name="Oval 15"/>
          <p:cNvSpPr/>
          <p:nvPr/>
        </p:nvSpPr>
        <p:spPr>
          <a:xfrm>
            <a:off x="7611000" y="141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11000" y="153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B2</a:t>
            </a:r>
          </a:p>
        </p:txBody>
      </p:sp>
      <p:sp>
        <p:nvSpPr>
          <p:cNvPr id="18" name="Oval 17"/>
          <p:cNvSpPr/>
          <p:nvPr/>
        </p:nvSpPr>
        <p:spPr>
          <a:xfrm>
            <a:off x="9483620" y="141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83620" y="153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20" name="Oval 19"/>
          <p:cNvSpPr/>
          <p:nvPr/>
        </p:nvSpPr>
        <p:spPr>
          <a:xfrm>
            <a:off x="11356240" y="141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56240" y="153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320000"/>
            <a:ext cx="110000" cy="8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5760" y="2330000"/>
            <a:ext cx="3000000" cy="9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0504D"/>
                </a:solidFill>
                <a:latin typeface="Calibri"/>
              </a:rPr>
              <a:t>+  S_min = 0.40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B2 has S = 0.35 &lt; 0.40  →  removed entirely  (node set V′ shrinks)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335760" y="283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208380" y="2830000"/>
            <a:ext cx="3275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953620" y="283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865760" y="259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65760" y="271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29" name="Oval 28"/>
          <p:cNvSpPr/>
          <p:nvPr/>
        </p:nvSpPr>
        <p:spPr>
          <a:xfrm>
            <a:off x="5738380" y="259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38380" y="271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31" name="Oval 30"/>
          <p:cNvSpPr/>
          <p:nvPr/>
        </p:nvSpPr>
        <p:spPr>
          <a:xfrm>
            <a:off x="7611000" y="2595000"/>
            <a:ext cx="470000" cy="47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11000" y="2680000"/>
            <a:ext cx="47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3" name="Oval 32"/>
          <p:cNvSpPr/>
          <p:nvPr/>
        </p:nvSpPr>
        <p:spPr>
          <a:xfrm>
            <a:off x="9483620" y="259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83620" y="271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35" name="Oval 34"/>
          <p:cNvSpPr/>
          <p:nvPr/>
        </p:nvSpPr>
        <p:spPr>
          <a:xfrm>
            <a:off x="11356240" y="259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356240" y="271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380000"/>
            <a:ext cx="11430000" cy="11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3500000"/>
            <a:ext cx="110000" cy="8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5760" y="3510000"/>
            <a:ext cx="3000000" cy="9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68B5"/>
                </a:solidFill>
                <a:latin typeface="Calibri"/>
              </a:rPr>
              <a:t>+  θ  (grouping)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Group by importance: {B0,B4} high → pruned less,  {B1,B3} low → pruned more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335760" y="401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208380" y="4010000"/>
            <a:ext cx="3275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53620" y="401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3865760" y="3775000"/>
            <a:ext cx="470000" cy="47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65760" y="389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45" name="Oval 44"/>
          <p:cNvSpPr/>
          <p:nvPr/>
        </p:nvSpPr>
        <p:spPr>
          <a:xfrm>
            <a:off x="5738380" y="3775000"/>
            <a:ext cx="470000" cy="47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38380" y="389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47" name="Oval 46"/>
          <p:cNvSpPr/>
          <p:nvPr/>
        </p:nvSpPr>
        <p:spPr>
          <a:xfrm>
            <a:off x="7611000" y="3775000"/>
            <a:ext cx="470000" cy="47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11000" y="3860000"/>
            <a:ext cx="47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49" name="Oval 48"/>
          <p:cNvSpPr/>
          <p:nvPr/>
        </p:nvSpPr>
        <p:spPr>
          <a:xfrm>
            <a:off x="9483620" y="3775000"/>
            <a:ext cx="470000" cy="47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83620" y="389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51" name="Oval 50"/>
          <p:cNvSpPr/>
          <p:nvPr/>
        </p:nvSpPr>
        <p:spPr>
          <a:xfrm>
            <a:off x="11356240" y="3775000"/>
            <a:ext cx="470000" cy="47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356240" y="389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4680000"/>
            <a:ext cx="110000" cy="86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5760" y="4690000"/>
            <a:ext cx="3000000" cy="9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A300"/>
                </a:solidFill>
                <a:latin typeface="Calibri"/>
              </a:rPr>
              <a:t>+  α  (coupling)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Functional edges link similar blocks: B0–B4 and B1–B3 boost each other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335760" y="519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208380" y="5190000"/>
            <a:ext cx="3275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953620" y="519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100760" y="4655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100760" y="4655000"/>
            <a:ext cx="749048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1591240" y="4655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5973380" y="4805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5973380" y="4805000"/>
            <a:ext cx="374524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9718620" y="4805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3865760" y="4955000"/>
            <a:ext cx="470000" cy="47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865760" y="507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66" name="Oval 65"/>
          <p:cNvSpPr/>
          <p:nvPr/>
        </p:nvSpPr>
        <p:spPr>
          <a:xfrm>
            <a:off x="5738380" y="4955000"/>
            <a:ext cx="470000" cy="47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38380" y="507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68" name="Oval 67"/>
          <p:cNvSpPr/>
          <p:nvPr/>
        </p:nvSpPr>
        <p:spPr>
          <a:xfrm>
            <a:off x="7611000" y="4955000"/>
            <a:ext cx="470000" cy="47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11000" y="5040000"/>
            <a:ext cx="47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70" name="Oval 69"/>
          <p:cNvSpPr/>
          <p:nvPr/>
        </p:nvSpPr>
        <p:spPr>
          <a:xfrm>
            <a:off x="9483620" y="4955000"/>
            <a:ext cx="470000" cy="47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483620" y="507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72" name="Oval 71"/>
          <p:cNvSpPr/>
          <p:nvPr/>
        </p:nvSpPr>
        <p:spPr>
          <a:xfrm>
            <a:off x="11356240" y="4955000"/>
            <a:ext cx="470000" cy="47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356240" y="507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" y="6388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25252"/>
                </a:solidFill>
                <a:latin typeface="Calibri"/>
              </a:rPr>
              <a:t>Illustrative 5-block example (values chosen to show the mechanism). Each row adds one component to the row above — the graph is built up, not rebuilt.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