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60000"/>
            <a:ext cx="1106424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Hypergraph Redundancy Pruning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0000"/>
            <a:ext cx="1106424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9BBEDF"/>
                </a:solidFill>
                <a:latin typeface="Calibri"/>
              </a:rPr>
              <a:t>Compressing transformers by the redundancy that pairwise methods cannot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430000"/>
            <a:ext cx="6309360" cy="3048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6000" y="2640000"/>
            <a:ext cx="3300000" cy="82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6000" y="2730000"/>
            <a:ext cx="314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 idea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Some channels are redundant</a:t>
            </a:r>
          </a:p>
          <a:p>
            <a:pPr algn="ctr">
              <a:spcBef>
                <a:spcPts val="1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only as a SET, not in pairs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6000" y="2640000"/>
            <a:ext cx="3300000" cy="82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000" y="2730000"/>
            <a:ext cx="314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 tool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A hyperedge links a whole</a:t>
            </a:r>
          </a:p>
          <a:p>
            <a:pPr algn="ctr">
              <a:spcBef>
                <a:spcPts val="1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set of jointly-redundant channels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6000" y="2640000"/>
            <a:ext cx="3300000" cy="82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6000" y="2730000"/>
            <a:ext cx="3140000" cy="6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 win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Prune capacity that graph</a:t>
            </a:r>
          </a:p>
          <a:p>
            <a:pPr algn="ctr">
              <a:spcBef>
                <a:spcPts val="100"/>
              </a:spcBef>
            </a:pPr>
            <a:r>
              <a:rPr sz="1300" b="0" i="0">
                <a:solidFill>
                  <a:srgbClr val="9BBEDF"/>
                </a:solidFill>
                <a:latin typeface="Calibri"/>
              </a:rPr>
              <a:t>methods (DepGraph/GOHSP) miss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60000"/>
            <a:ext cx="11064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EE"/>
                </a:solidFill>
                <a:latin typeface="Calibri"/>
              </a:rPr>
              <a:t>Shahrzad Esmat   ·   Iowa State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40000"/>
            <a:ext cx="110642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A300"/>
                </a:solidFill>
                <a:latin typeface="Calibri"/>
              </a:rPr>
              <a:t>Target venue: AAAI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The Problem: Which Channels Are Redundant?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80000"/>
            <a:ext cx="114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Pruning makes a transformer smaller by deleting redundant channels. The entire game is: HOW do you detect redundancy?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20000"/>
            <a:ext cx="11430000" cy="1180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20000"/>
            <a:ext cx="150000" cy="118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760" y="1550000"/>
            <a:ext cx="10830000" cy="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8B5"/>
                </a:solidFill>
                <a:latin typeface="Calibri"/>
              </a:rPr>
              <a:t>Today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525252"/>
                </a:solidFill>
                <a:latin typeface="Calibri"/>
              </a:rPr>
              <a:t>Compare channels two at a time. If A and B fire almost identically, they duplicate each other -&gt; keep one. This is what graph-based pruning (DepGraph, GOHSP)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60000"/>
            <a:ext cx="11430000" cy="118000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60000"/>
            <a:ext cx="150000" cy="1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760" y="2890000"/>
            <a:ext cx="10830000" cy="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504D"/>
                </a:solidFill>
                <a:latin typeface="Calibri"/>
              </a:rPr>
              <a:t>The blind spot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525252"/>
                </a:solidFill>
                <a:latin typeface="Calibri"/>
              </a:rPr>
              <a:t>Redundancy can hide in a SET of channels where no pair looks alike (e.g. C = A + B). Pairwise checks see nothing and keep all three.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00000"/>
            <a:ext cx="11430000" cy="11800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100000"/>
            <a:ext cx="150000" cy="118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60" y="4230000"/>
            <a:ext cx="10830000" cy="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300"/>
                </a:solidFill>
                <a:latin typeface="Calibri"/>
              </a:rPr>
              <a:t>Our claim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525252"/>
                </a:solidFill>
                <a:latin typeface="Calibri"/>
              </a:rPr>
              <a:t>Most removable capacity in a transformer is this set-level kind. A hypergraph captures it; pairwise graphs structurally cannot.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308000"/>
            <a:ext cx="11430000" cy="43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6308000"/>
            <a:ext cx="140000" cy="43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760" y="6363000"/>
            <a:ext cx="109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 reframe pruning as finding redundant SETS of channels — a hypergraph, not a pairwise 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Background: Pairwise Redundancy = a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80000"/>
            <a:ext cx="1143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Standard pruning builds a graph: a node per channel, an edge when two channels duplicate.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60" y="144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8B5"/>
                </a:solidFill>
                <a:latin typeface="Calibri"/>
              </a:rPr>
              <a:t>A duplicate 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60" y="193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Ch A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5760" y="1860000"/>
            <a:ext cx="500000" cy="38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5760" y="19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45760" y="1860000"/>
            <a:ext cx="500000" cy="38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5760" y="19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05760" y="1860000"/>
            <a:ext cx="500000" cy="38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760" y="19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5760" y="1860000"/>
            <a:ext cx="500000" cy="38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5760" y="19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5760" y="1860000"/>
            <a:ext cx="500000" cy="38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5760" y="19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5760" y="1860000"/>
            <a:ext cx="500000" cy="38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5760" y="19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760" y="255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Ch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5760" y="2480000"/>
            <a:ext cx="500000" cy="38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5760" y="252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45760" y="2480000"/>
            <a:ext cx="500000" cy="38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5760" y="252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5760" y="2480000"/>
            <a:ext cx="500000" cy="38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5760" y="252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5760" y="2480000"/>
            <a:ext cx="500000" cy="38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5760" y="252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25760" y="2480000"/>
            <a:ext cx="500000" cy="38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5760" y="252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5760" y="2480000"/>
            <a:ext cx="500000" cy="38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5760" y="252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760" y="314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25252"/>
                </a:solidFill>
                <a:latin typeface="Calibri"/>
              </a:rPr>
              <a:t>A and B identical  -&gt;  delete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0000" y="144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8B5"/>
                </a:solidFill>
                <a:latin typeface="Calibri"/>
              </a:rPr>
              <a:t>as a graph (edge = 2 nodes)</a:t>
            </a:r>
          </a:p>
        </p:txBody>
      </p:sp>
      <p:sp>
        <p:nvSpPr>
          <p:cNvPr id="35" name="Oval 34"/>
          <p:cNvSpPr/>
          <p:nvPr/>
        </p:nvSpPr>
        <p:spPr>
          <a:xfrm>
            <a:off x="7400000" y="1880000"/>
            <a:ext cx="720000" cy="72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000" y="209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7" name="Oval 36"/>
          <p:cNvSpPr/>
          <p:nvPr/>
        </p:nvSpPr>
        <p:spPr>
          <a:xfrm>
            <a:off x="9000000" y="1880000"/>
            <a:ext cx="720000" cy="72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0000" y="209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20000" y="2240000"/>
            <a:ext cx="880000" cy="0"/>
          </a:xfrm>
          <a:prstGeom prst="bentConnector3">
            <a:avLst/>
          </a:prstGeom>
          <a:ln w="25400">
            <a:solidFill>
              <a:srgbClr val="C05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400000" y="3180000"/>
            <a:ext cx="720000" cy="72000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000" y="339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9000000" y="3180000"/>
            <a:ext cx="720000" cy="72000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0000" y="339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0000" y="203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04D"/>
                </a:solidFill>
                <a:latin typeface="Calibri"/>
              </a:rPr>
              <a:t>edge -&gt; delete 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0000" y="333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Calibri"/>
              </a:rPr>
              <a:t>no edge -&gt; keep both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308000"/>
            <a:ext cx="11430000" cy="43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6308000"/>
            <a:ext cx="140000" cy="43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760" y="6363000"/>
            <a:ext cx="109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Every edge connects exactly two nodes. The method can only ever say 'A pairs with B'.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The Gap: Redundancy No Pair Can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80000"/>
            <a:ext cx="1143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Three channels. C is exactly A + B — fully redundant — yet NO pair looks alike.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60" y="151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8B5"/>
                </a:solidFill>
                <a:latin typeface="Calibri"/>
              </a:rPr>
              <a:t>Ch 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5760" y="1450000"/>
            <a:ext cx="460000" cy="36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5760" y="148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05760" y="1450000"/>
            <a:ext cx="460000" cy="36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760" y="148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25760" y="1450000"/>
            <a:ext cx="460000" cy="360000"/>
          </a:xfrm>
          <a:prstGeom prst="rect">
            <a:avLst/>
          </a:prstGeom>
          <a:solidFill>
            <a:srgbClr val="0068B5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5760" y="148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5760" y="1450000"/>
            <a:ext cx="460000" cy="36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5760" y="148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60" y="207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Ch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5760" y="2010000"/>
            <a:ext cx="460000" cy="36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5760" y="204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05760" y="2010000"/>
            <a:ext cx="460000" cy="360000"/>
          </a:xfrm>
          <a:prstGeom prst="rect">
            <a:avLst/>
          </a:prstGeom>
          <a:solidFill>
            <a:srgbClr val="70AD47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05760" y="204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25760" y="2010000"/>
            <a:ext cx="460000" cy="360000"/>
          </a:xfrm>
          <a:prstGeom prst="rect">
            <a:avLst/>
          </a:prstGeom>
          <a:solidFill>
            <a:srgbClr val="EDEDED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5760" y="204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5760" y="2010000"/>
            <a:ext cx="460000" cy="360000"/>
          </a:xfrm>
          <a:prstGeom prst="rect">
            <a:avLst/>
          </a:prstGeom>
          <a:solidFill>
            <a:srgbClr val="70AD47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5760" y="204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760" y="2630000"/>
            <a:ext cx="1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300"/>
                </a:solidFill>
                <a:latin typeface="Calibri"/>
              </a:rPr>
              <a:t>Ch C = A+B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5760" y="2570000"/>
            <a:ext cx="460000" cy="360000"/>
          </a:xfrm>
          <a:prstGeom prst="rect">
            <a:avLst/>
          </a:prstGeom>
          <a:solidFill>
            <a:srgbClr val="FFA300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85760" y="260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05760" y="2570000"/>
            <a:ext cx="460000" cy="360000"/>
          </a:xfrm>
          <a:prstGeom prst="rect">
            <a:avLst/>
          </a:prstGeom>
          <a:solidFill>
            <a:srgbClr val="FFA300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05760" y="260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25760" y="2570000"/>
            <a:ext cx="460000" cy="360000"/>
          </a:xfrm>
          <a:prstGeom prst="rect">
            <a:avLst/>
          </a:prstGeom>
          <a:solidFill>
            <a:srgbClr val="FFA300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25760" y="260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45760" y="2570000"/>
            <a:ext cx="460000" cy="360000"/>
          </a:xfrm>
          <a:prstGeom prst="rect">
            <a:avLst/>
          </a:prstGeom>
          <a:solidFill>
            <a:srgbClr val="FFA300"/>
          </a:solidFill>
          <a:ln w="63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5760" y="2600000"/>
            <a:ext cx="4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5760" y="1450000"/>
            <a:ext cx="2550000" cy="162000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85760" y="1450000"/>
            <a:ext cx="0" cy="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5760" y="1570000"/>
            <a:ext cx="2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504D"/>
                </a:solidFill>
                <a:latin typeface="Calibri"/>
              </a:rPr>
              <a:t>Pairwise check: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A vs B  -&gt;  opposite, not dup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A vs C  -&gt;  partial, not dup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B vs C  -&gt;  partial, not dup</a:t>
            </a:r>
          </a:p>
          <a:p>
            <a:pPr algn="l">
              <a:spcBef>
                <a:spcPts val="800"/>
              </a:spcBef>
            </a:pPr>
            <a:r>
              <a:rPr sz="1300" b="1" i="0">
                <a:solidFill>
                  <a:srgbClr val="C0504D"/>
                </a:solidFill>
                <a:latin typeface="Calibri"/>
              </a:rPr>
              <a:t>Verdict: keep all 3 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35760" y="1450000"/>
            <a:ext cx="2900000" cy="162000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95760" y="1570000"/>
            <a:ext cx="26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Set view (rank):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3 channels, but only 2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are independent.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70AD47"/>
                </a:solidFill>
                <a:latin typeface="Calibri"/>
              </a:rPr>
              <a:t>effective rank = 2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70AD47"/>
                </a:solidFill>
                <a:latin typeface="Calibri"/>
              </a:rPr>
              <a:t>-&gt; 1 channel removable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178000"/>
            <a:ext cx="11430000" cy="56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6178000"/>
            <a:ext cx="140000" cy="56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760" y="6233000"/>
            <a:ext cx="109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Your measured data: MLP layers have 1536 channels but effective rank ≈ 150 — about 1380 set-redundant dims.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A300"/>
                </a:solidFill>
                <a:latin typeface="Calibri"/>
              </a:rPr>
              <a:t>Pairwise methods detect only ~2 duplicate channels per layer. The HO-gap (~1380) is what we exploit.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Related Work: Nobody Occupies Our Cell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80000"/>
            <a:ext cx="1143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Two axes: WHAT redundancy is captured (pairwise vs set-level) × HOW it is used (importance vs allocation).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5760" y="1500000"/>
            <a:ext cx="3470000" cy="52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5760" y="1630000"/>
            <a:ext cx="347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Pairwise / 2-way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165760" y="1500000"/>
            <a:ext cx="3470000" cy="52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5760" y="1630000"/>
            <a:ext cx="347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Set-level (3+-way)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60" y="2120000"/>
            <a:ext cx="2970000" cy="90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760" y="2330000"/>
            <a:ext cx="297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Importance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5760" y="2120000"/>
            <a:ext cx="3470000" cy="900000"/>
          </a:xfrm>
          <a:prstGeom prst="rect">
            <a:avLst/>
          </a:prstGeom>
          <a:solidFill>
            <a:srgbClr val="DEEBF7"/>
          </a:solidFill>
          <a:ln w="19050">
            <a:solidFill>
              <a:srgbClr val="006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60" y="2220000"/>
            <a:ext cx="32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GOHSP (AAAI'23), DepGraph,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FPGM — graph head/filter 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5760" y="2120000"/>
            <a:ext cx="3470000" cy="900000"/>
          </a:xfrm>
          <a:prstGeom prst="rect">
            <a:avLst/>
          </a:prstGeom>
          <a:solidFill>
            <a:srgbClr val="ECE3F5"/>
          </a:solidFill>
          <a:ln w="19050">
            <a:solidFill>
              <a:srgbClr val="7A4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5760" y="2220000"/>
            <a:ext cx="32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O-information (2022/24):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synergy in neuron groups —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but tiny nets, no 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5760" y="3080000"/>
            <a:ext cx="2970000" cy="90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760" y="3290000"/>
            <a:ext cx="297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Rank / budget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5760" y="3080000"/>
            <a:ext cx="3470000" cy="900000"/>
          </a:xfrm>
          <a:prstGeom prst="rect">
            <a:avLst/>
          </a:prstGeom>
          <a:solidFill>
            <a:srgbClr val="DEEBF7"/>
          </a:solidFill>
          <a:ln w="19050">
            <a:solidFill>
              <a:srgbClr val="0068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5760" y="3180000"/>
            <a:ext cx="32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ARA, FLAT-LLM, SVD-LLM,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ASVD — per-module spectra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5760" y="3080000"/>
            <a:ext cx="3470000" cy="90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FF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5760" y="3180000"/>
            <a:ext cx="323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300"/>
                </a:solidFill>
                <a:latin typeface="Calibri"/>
              </a:rPr>
              <a:t>OUR CELL — empty: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A300"/>
                </a:solidFill>
                <a:latin typeface="Calibri"/>
              </a:rPr>
              <a:t>hyperedge redundancy -&gt;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A300"/>
                </a:solidFill>
                <a:latin typeface="Calibri"/>
              </a:rPr>
              <a:t>allocation on ViT/LLM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78000"/>
            <a:ext cx="11430000" cy="56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178000"/>
            <a:ext cx="140000" cy="56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760" y="6233000"/>
            <a:ext cx="109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Gator (2022) uses the word 'hypergraph' but for STRUCTURAL coupling (must-cut-together), not redundancy.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A300"/>
                </a:solidFill>
                <a:latin typeface="Calibri"/>
              </a:rPr>
              <a:t>We must cite + wall off: Gator (structural hypergraph) and O-information (set redundancy, but importance-only, no method).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Our Method: A Hyperedge = a Jointly-Redundant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80000"/>
            <a:ext cx="1143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 hyperedge wraps a SET of channels (3+) that are jointly rank-deficient — one is reconstructible from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760" y="126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8B5"/>
                </a:solidFill>
                <a:latin typeface="Calibri"/>
              </a:rPr>
              <a:t>Graph: edges of size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5760" y="1890000"/>
            <a:ext cx="1500000" cy="0"/>
          </a:xfrm>
          <a:prstGeom prst="bentConnector3">
            <a:avLst/>
          </a:prstGeom>
          <a:ln w="1905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65760" y="1540000"/>
            <a:ext cx="700000" cy="70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5760" y="1740000"/>
            <a:ext cx="7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2265760" y="1540000"/>
            <a:ext cx="700000" cy="70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5760" y="1740000"/>
            <a:ext cx="7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1515760" y="2590000"/>
            <a:ext cx="700000" cy="70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75760" y="2790000"/>
            <a:ext cx="7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760" y="3590000"/>
            <a:ext cx="4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5252"/>
                </a:solidFill>
                <a:latin typeface="Calibri"/>
              </a:rPr>
              <a:t>Can only encode pairwise links —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25252"/>
                </a:solidFill>
                <a:latin typeface="Calibri"/>
              </a:rPr>
              <a:t>the joint A,B,C dependency is inexpressible.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122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300"/>
                </a:solidFill>
                <a:latin typeface="Calibri"/>
              </a:rPr>
              <a:t>Hypergraph: a hyperedge of size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0000" y="1500000"/>
            <a:ext cx="2900000" cy="1950000"/>
          </a:xfrm>
          <a:prstGeom prst="roundRect">
            <a:avLst/>
          </a:prstGeom>
          <a:solidFill>
            <a:srgbClr val="FFF2CC"/>
          </a:solidFill>
          <a:ln w="22225">
            <a:solidFill>
              <a:srgbClr val="FF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50000" y="1660000"/>
            <a:ext cx="700000" cy="70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0000" y="1860000"/>
            <a:ext cx="7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8550000" y="1660000"/>
            <a:ext cx="700000" cy="70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10000" y="1860000"/>
            <a:ext cx="7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Oval 20"/>
          <p:cNvSpPr/>
          <p:nvPr/>
        </p:nvSpPr>
        <p:spPr>
          <a:xfrm>
            <a:off x="7800000" y="2620000"/>
            <a:ext cx="700000" cy="700000"/>
          </a:xfrm>
          <a:prstGeom prst="ellipse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0000" y="2820000"/>
            <a:ext cx="7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0000" y="1840000"/>
            <a:ext cx="26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300"/>
                </a:solidFill>
                <a:latin typeface="Calibri"/>
              </a:rPr>
              <a:t>one hyperedge e = {A,B,C}</a:t>
            </a:r>
          </a:p>
          <a:p>
            <a:pPr algn="l">
              <a:spcBef>
                <a:spcPts val="6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weight w(e) = redundancy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1A1A1A"/>
                </a:solidFill>
                <a:latin typeface="Calibri"/>
              </a:rPr>
              <a:t>= |e| − rank(e)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70AD47"/>
                </a:solidFill>
                <a:latin typeface="Calibri"/>
              </a:rPr>
              <a:t>= 3 − 2 = 1 removable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308000"/>
            <a:ext cx="11430000" cy="43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6308000"/>
            <a:ext cx="140000" cy="43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760" y="6363000"/>
            <a:ext cx="109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Redundancy of a set = (#channels) − (effective rank). Sum over hyperedges = total removable capacity.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Worked Example: From Hyperedge to Pruned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40000"/>
            <a:ext cx="11430000" cy="1310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50000"/>
            <a:ext cx="110000" cy="106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760" y="1190000"/>
            <a:ext cx="32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8B5"/>
                </a:solidFill>
                <a:latin typeface="Calibri"/>
              </a:rPr>
              <a:t>1  Measure</a:t>
            </a:r>
          </a:p>
          <a:p>
            <a:pPr algn="l">
              <a:spcBef>
                <a:spcPts val="6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Find sets of channels that are jointly rank-deficient (one ≈ combo of others).</a:t>
            </a:r>
          </a:p>
          <a:p>
            <a:pPr algn="l">
              <a:spcBef>
                <a:spcPts val="800"/>
              </a:spcBef>
            </a:pPr>
            <a:r>
              <a:rPr sz="1150" b="0" i="1">
                <a:solidFill>
                  <a:srgbClr val="0068B5"/>
                </a:solidFill>
                <a:latin typeface="Calibri"/>
              </a:rPr>
              <a:t>find {c1,c3,c5}: rank 2 of 3   ·   {c0,c4}: independent</a:t>
            </a:r>
          </a:p>
        </p:txBody>
      </p:sp>
      <p:sp>
        <p:nvSpPr>
          <p:cNvPr id="8" name="Oval 7"/>
          <p:cNvSpPr/>
          <p:nvPr/>
        </p:nvSpPr>
        <p:spPr>
          <a:xfrm>
            <a:off x="4065760" y="149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5760" y="158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c0</a:t>
            </a:r>
          </a:p>
        </p:txBody>
      </p:sp>
      <p:sp>
        <p:nvSpPr>
          <p:cNvPr id="10" name="Oval 9"/>
          <p:cNvSpPr/>
          <p:nvPr/>
        </p:nvSpPr>
        <p:spPr>
          <a:xfrm>
            <a:off x="5521856" y="1490000"/>
            <a:ext cx="480000" cy="48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1856" y="158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2" name="Oval 11"/>
          <p:cNvSpPr/>
          <p:nvPr/>
        </p:nvSpPr>
        <p:spPr>
          <a:xfrm>
            <a:off x="6977952" y="149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7952" y="158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4" name="Oval 13"/>
          <p:cNvSpPr/>
          <p:nvPr/>
        </p:nvSpPr>
        <p:spPr>
          <a:xfrm>
            <a:off x="8434048" y="1490000"/>
            <a:ext cx="480000" cy="48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048" y="158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6" name="Oval 15"/>
          <p:cNvSpPr/>
          <p:nvPr/>
        </p:nvSpPr>
        <p:spPr>
          <a:xfrm>
            <a:off x="9890144" y="149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50144" y="158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18" name="Oval 17"/>
          <p:cNvSpPr/>
          <p:nvPr/>
        </p:nvSpPr>
        <p:spPr>
          <a:xfrm>
            <a:off x="11346240" y="1490000"/>
            <a:ext cx="480000" cy="48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06240" y="158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530000"/>
            <a:ext cx="110000" cy="106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760" y="2570000"/>
            <a:ext cx="32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300"/>
                </a:solidFill>
                <a:latin typeface="Calibri"/>
              </a:rPr>
              <a:t>2  Build hyperedge</a:t>
            </a:r>
          </a:p>
          <a:p>
            <a:pPr algn="l">
              <a:spcBef>
                <a:spcPts val="6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Wrap each redundant set in a weighted hyperedge  w(e)=|e|−rank(e).</a:t>
            </a:r>
          </a:p>
          <a:p>
            <a:pPr algn="l">
              <a:spcBef>
                <a:spcPts val="800"/>
              </a:spcBef>
            </a:pPr>
            <a:r>
              <a:rPr sz="1150" b="0" i="1">
                <a:solidFill>
                  <a:srgbClr val="FFA300"/>
                </a:solidFill>
                <a:latin typeface="Calibri"/>
              </a:rPr>
              <a:t>e1={c1,c3,c5} w=1     (e on c0,c2,c4 -&gt; w=0)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1856" y="2760000"/>
            <a:ext cx="6444384" cy="700000"/>
          </a:xfrm>
          <a:prstGeom prst="roundRect">
            <a:avLst/>
          </a:prstGeom>
          <a:noFill/>
          <a:ln w="19050">
            <a:solidFill>
              <a:srgbClr val="FF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65760" y="287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5760" y="296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c0</a:t>
            </a:r>
          </a:p>
        </p:txBody>
      </p:sp>
      <p:sp>
        <p:nvSpPr>
          <p:cNvPr id="25" name="Oval 24"/>
          <p:cNvSpPr/>
          <p:nvPr/>
        </p:nvSpPr>
        <p:spPr>
          <a:xfrm>
            <a:off x="5521856" y="2870000"/>
            <a:ext cx="480000" cy="480000"/>
          </a:xfrm>
          <a:prstGeom prst="ellipse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1856" y="296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27" name="Oval 26"/>
          <p:cNvSpPr/>
          <p:nvPr/>
        </p:nvSpPr>
        <p:spPr>
          <a:xfrm>
            <a:off x="6977952" y="287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7952" y="296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29" name="Oval 28"/>
          <p:cNvSpPr/>
          <p:nvPr/>
        </p:nvSpPr>
        <p:spPr>
          <a:xfrm>
            <a:off x="8434048" y="2870000"/>
            <a:ext cx="480000" cy="480000"/>
          </a:xfrm>
          <a:prstGeom prst="ellipse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048" y="296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31" name="Oval 30"/>
          <p:cNvSpPr/>
          <p:nvPr/>
        </p:nvSpPr>
        <p:spPr>
          <a:xfrm>
            <a:off x="9890144" y="287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0144" y="296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33" name="Oval 32"/>
          <p:cNvSpPr/>
          <p:nvPr/>
        </p:nvSpPr>
        <p:spPr>
          <a:xfrm>
            <a:off x="11346240" y="2870000"/>
            <a:ext cx="480000" cy="480000"/>
          </a:xfrm>
          <a:prstGeom prst="ellipse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06240" y="296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00000"/>
            <a:ext cx="11430000" cy="1310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10000"/>
            <a:ext cx="110000" cy="1060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760" y="3950000"/>
            <a:ext cx="32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Calibri"/>
              </a:rPr>
              <a:t>3  Allocate &amp; prune</a:t>
            </a:r>
          </a:p>
          <a:p>
            <a:pPr algn="l">
              <a:spcBef>
                <a:spcPts val="600"/>
              </a:spcBef>
            </a:pPr>
            <a:r>
              <a:rPr sz="1250" b="0" i="0">
                <a:solidFill>
                  <a:srgbClr val="525252"/>
                </a:solidFill>
                <a:latin typeface="Calibri"/>
              </a:rPr>
              <a:t>Spend the budget by removing the redundant member of each hyperedge; keep a basis that reconstructs it.</a:t>
            </a:r>
          </a:p>
          <a:p>
            <a:pPr algn="l">
              <a:spcBef>
                <a:spcPts val="800"/>
              </a:spcBef>
            </a:pPr>
            <a:r>
              <a:rPr sz="1150" b="0" i="1">
                <a:solidFill>
                  <a:srgbClr val="70AD47"/>
                </a:solidFill>
                <a:latin typeface="Calibri"/>
              </a:rPr>
              <a:t>drop c5 (≈ c1+c3) -&gt; 6 channels become 5, output preserved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51856" y="4140000"/>
            <a:ext cx="6444384" cy="700000"/>
          </a:xfrm>
          <a:prstGeom prst="roundRect">
            <a:avLst/>
          </a:prstGeom>
          <a:noFill/>
          <a:ln w="19050">
            <a:solidFill>
              <a:srgbClr val="FF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65760" y="425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5760" y="434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c0</a:t>
            </a:r>
          </a:p>
        </p:txBody>
      </p:sp>
      <p:sp>
        <p:nvSpPr>
          <p:cNvPr id="41" name="Oval 40"/>
          <p:cNvSpPr/>
          <p:nvPr/>
        </p:nvSpPr>
        <p:spPr>
          <a:xfrm>
            <a:off x="5521856" y="4250000"/>
            <a:ext cx="480000" cy="48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1856" y="434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43" name="Oval 42"/>
          <p:cNvSpPr/>
          <p:nvPr/>
        </p:nvSpPr>
        <p:spPr>
          <a:xfrm>
            <a:off x="6977952" y="425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37952" y="434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45" name="Oval 44"/>
          <p:cNvSpPr/>
          <p:nvPr/>
        </p:nvSpPr>
        <p:spPr>
          <a:xfrm>
            <a:off x="8434048" y="4250000"/>
            <a:ext cx="480000" cy="48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048" y="434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47" name="Oval 46"/>
          <p:cNvSpPr/>
          <p:nvPr/>
        </p:nvSpPr>
        <p:spPr>
          <a:xfrm>
            <a:off x="9890144" y="4250000"/>
            <a:ext cx="480000" cy="4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50144" y="4340000"/>
            <a:ext cx="5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49" name="Oval 48"/>
          <p:cNvSpPr/>
          <p:nvPr/>
        </p:nvSpPr>
        <p:spPr>
          <a:xfrm>
            <a:off x="11346240" y="4250000"/>
            <a:ext cx="480000" cy="480000"/>
          </a:xfrm>
          <a:prstGeom prst="ellipse">
            <a:avLst/>
          </a:prstGeom>
          <a:solidFill>
            <a:srgbClr val="EDEDED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346240" y="4350000"/>
            <a:ext cx="4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504D"/>
                </a:solidFill>
                <a:latin typeface="Calibri"/>
              </a:rPr>
              <a:t>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388000"/>
            <a:ext cx="114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25252"/>
                </a:solidFill>
                <a:latin typeface="Calibri"/>
              </a:rPr>
              <a:t>Illustrative 6-channel layer. The dropped channel is the one the hyperedge proves is recoverable from its set-mates.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Pipeline: Plugs Into Any Pruning Backbone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40000"/>
            <a:ext cx="2142000" cy="2600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40000"/>
            <a:ext cx="2142000" cy="12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6760" y="1600000"/>
            <a:ext cx="580000" cy="580000"/>
          </a:xfrm>
          <a:prstGeom prst="ellipse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6760" y="1660000"/>
            <a:ext cx="5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60" y="2320000"/>
            <a:ext cx="190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68B5"/>
                </a:solidFill>
                <a:latin typeface="Calibri"/>
              </a:rPr>
              <a:t>Calibrate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760" y="2680000"/>
            <a:ext cx="1862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Calibri"/>
              </a:rPr>
              <a:t>Run a few batches; collect per-channel activations for every attn/MLP layer.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7760" y="1890000"/>
            <a:ext cx="140000" cy="0"/>
          </a:xfrm>
          <a:prstGeom prst="bentConnector3">
            <a:avLst/>
          </a:prstGeom>
          <a:ln w="222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87760" y="1340000"/>
            <a:ext cx="2142000" cy="26000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87760" y="1340000"/>
            <a:ext cx="2142000" cy="12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68760" y="1600000"/>
            <a:ext cx="580000" cy="580000"/>
          </a:xfrm>
          <a:prstGeom prst="ellipse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8760" y="1660000"/>
            <a:ext cx="5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760" y="2320000"/>
            <a:ext cx="190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A300"/>
                </a:solidFill>
                <a:latin typeface="Calibri"/>
              </a:rPr>
              <a:t>Find hyperedges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7760" y="2680000"/>
            <a:ext cx="1862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Calibri"/>
              </a:rPr>
              <a:t>Group channels into jointly rank-deficient sets (correlation-clustering + effective-rank test).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9760" y="1890000"/>
            <a:ext cx="140000" cy="0"/>
          </a:xfrm>
          <a:prstGeom prst="bentConnector3">
            <a:avLst/>
          </a:prstGeom>
          <a:ln w="222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09760" y="1340000"/>
            <a:ext cx="2142000" cy="2600000"/>
          </a:xfrm>
          <a:prstGeom prst="rect">
            <a:avLst/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9760" y="1340000"/>
            <a:ext cx="2142000" cy="120000"/>
          </a:xfrm>
          <a:prstGeom prst="rect">
            <a:avLst/>
          </a:prstGeom>
          <a:solidFill>
            <a:srgbClr val="7A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90760" y="1600000"/>
            <a:ext cx="580000" cy="580000"/>
          </a:xfrm>
          <a:prstGeom prst="ellipse">
            <a:avLst/>
          </a:prstGeom>
          <a:solidFill>
            <a:srgbClr val="7A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0760" y="1660000"/>
            <a:ext cx="5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60" y="2320000"/>
            <a:ext cx="190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A4FA3"/>
                </a:solidFill>
                <a:latin typeface="Calibri"/>
              </a:rPr>
              <a:t>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760" y="2680000"/>
            <a:ext cx="1862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Calibri"/>
              </a:rPr>
              <a:t>w(e) = |e| − effrank(e): how many dims the set can shed without changing its span.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1760" y="1890000"/>
            <a:ext cx="140000" cy="0"/>
          </a:xfrm>
          <a:prstGeom prst="bentConnector3">
            <a:avLst/>
          </a:prstGeom>
          <a:ln w="222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31760" y="1340000"/>
            <a:ext cx="2142000" cy="2600000"/>
          </a:xfrm>
          <a:prstGeom prst="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31760" y="1340000"/>
            <a:ext cx="2142000" cy="120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12760" y="1600000"/>
            <a:ext cx="580000" cy="5800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2760" y="1660000"/>
            <a:ext cx="5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1760" y="2320000"/>
            <a:ext cx="190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0AD47"/>
                </a:solidFill>
                <a:latin typeface="Calibri"/>
              </a:rPr>
              <a:t>Allocate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1760" y="2680000"/>
            <a:ext cx="1862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Calibri"/>
              </a:rPr>
              <a:t>Distribute the MAC/rank budget across layers proportional to hyperedge redundancy.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93760" y="1890000"/>
            <a:ext cx="140000" cy="0"/>
          </a:xfrm>
          <a:prstGeom prst="bentConnector3">
            <a:avLst/>
          </a:prstGeom>
          <a:ln w="222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53760" y="1340000"/>
            <a:ext cx="2142000" cy="260000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3760" y="1340000"/>
            <a:ext cx="2142000" cy="12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34760" y="1600000"/>
            <a:ext cx="580000" cy="58000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34760" y="1660000"/>
            <a:ext cx="5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3760" y="2320000"/>
            <a:ext cx="190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504D"/>
                </a:solidFill>
                <a:latin typeface="Calibri"/>
              </a:rPr>
              <a:t>Prune + basis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760" y="2680000"/>
            <a:ext cx="18620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25252"/>
                </a:solidFill>
                <a:latin typeface="Calibri"/>
              </a:rPr>
              <a:t>Remove redundant members; absorb their contribution into a kept low-rank basis.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308000"/>
            <a:ext cx="11430000" cy="43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6308000"/>
            <a:ext cx="140000" cy="43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760" y="6363000"/>
            <a:ext cx="109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Only Step 2–3 are new. Steps 1,4,5 reuse existing machinery — so the gain is attributable to set-level redundancy.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80000"/>
            <a:ext cx="1143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Same budget, same backbone, same data — only the redundancy model differs.  (numbers below are TARGETS, not yet measured)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60" y="148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LLaMA-2-7B · keep 50% · WikiText ppl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60" y="200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Calibri"/>
              </a:rPr>
              <a:t>Uniform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5760" y="1960000"/>
            <a:ext cx="3000000" cy="360000"/>
          </a:xfrm>
          <a:prstGeom prst="round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5760" y="199000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BFBF"/>
                </a:solidFill>
                <a:latin typeface="Calibri"/>
              </a:rPr>
              <a:t>17.39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60" y="262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Calibri"/>
              </a:rPr>
              <a:t>FLAT-LLM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85760" y="2580000"/>
            <a:ext cx="2511788" cy="360000"/>
          </a:xfrm>
          <a:prstGeom prst="round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7548" y="261000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300"/>
                </a:solidFill>
                <a:latin typeface="Calibri"/>
              </a:rPr>
              <a:t>14.56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60" y="324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0" i="0">
                <a:solidFill>
                  <a:srgbClr val="1A1A1A"/>
                </a:solidFill>
                <a:latin typeface="Calibri"/>
              </a:rPr>
              <a:t>Pairwise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85760" y="3200000"/>
            <a:ext cx="2432432" cy="360000"/>
          </a:xfrm>
          <a:prstGeom prst="round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8192" y="323000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8B5"/>
                </a:solidFill>
                <a:latin typeface="Calibri"/>
              </a:rPr>
              <a:t>14.10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760" y="3860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1A1A1A"/>
                </a:solidFill>
                <a:latin typeface="Calibri"/>
              </a:rPr>
              <a:t>Ours (hyperedge)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5760" y="3820000"/>
            <a:ext cx="2277170" cy="360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2930" y="385000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0AD47"/>
                </a:solidFill>
                <a:latin typeface="Calibri"/>
              </a:rPr>
              <a:t>13.20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60" y="459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25252"/>
                </a:solidFill>
                <a:latin typeface="Calibri"/>
              </a:rPr>
              <a:t>target: beat FLAT-LLM and a pairwise-graph allocator at equal budget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50000" y="1540000"/>
            <a:ext cx="5050000" cy="325000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0000" y="1540000"/>
            <a:ext cx="76200" cy="325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0000" y="1660000"/>
            <a:ext cx="4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300"/>
                </a:solidFill>
                <a:latin typeface="Calibri"/>
              </a:rPr>
              <a:t>Evidence already in hand (real probe)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70000" y="2160000"/>
            <a:ext cx="60000" cy="440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0000" y="2150000"/>
            <a:ext cx="2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MLP eff-rank / channels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90% of dims are set-redundant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0000" y="22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70AD47"/>
                </a:solidFill>
                <a:latin typeface="Calibri"/>
              </a:rPr>
              <a:t>≈ 0.10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0000" y="2780000"/>
            <a:ext cx="60000" cy="44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0000" y="2770000"/>
            <a:ext cx="2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Pairwise duplicates found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what graph methods can catch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0000" y="282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068B5"/>
                </a:solidFill>
                <a:latin typeface="Calibri"/>
              </a:rPr>
              <a:t>≈ 2 / 1536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70000" y="3400000"/>
            <a:ext cx="60000" cy="44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0000" y="3390000"/>
            <a:ext cx="2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Higher-order gap (HO-gap)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redundancy only a hyperedge sees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0000" y="344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FA300"/>
                </a:solidFill>
                <a:latin typeface="Calibri"/>
              </a:rPr>
              <a:t>≈ 1380 dims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70000" y="4020000"/>
            <a:ext cx="60000" cy="44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0000" y="4010000"/>
            <a:ext cx="2700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Attn HO-gap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525252"/>
                </a:solidFill>
                <a:latin typeface="Calibri"/>
              </a:rPr>
              <a:t>same effect, smaller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0000" y="406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C0504D"/>
                </a:solidFill>
                <a:latin typeface="Calibri"/>
              </a:rPr>
              <a:t>≈ 300 dims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308000"/>
            <a:ext cx="11430000" cy="43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6308000"/>
            <a:ext cx="140000" cy="430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760" y="6363000"/>
            <a:ext cx="109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HO-gap is measured and large — the expected win is the act of converting that gap into pruned compute.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Why It Survives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95528"/>
            <a:ext cx="11457432" cy="3175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00000"/>
            <a:ext cx="5615000" cy="23000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00000"/>
            <a:ext cx="140000" cy="2300000"/>
          </a:xfrm>
          <a:prstGeom prst="rect">
            <a:avLst/>
          </a:prstGeom>
          <a:solidFill>
            <a:srgbClr val="006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760" y="1260000"/>
            <a:ext cx="5095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8B5"/>
                </a:solidFill>
                <a:latin typeface="Calibri"/>
              </a:rPr>
              <a:t>vs ARA / FLAT-LLM / SVD-LLM</a:t>
            </a:r>
          </a:p>
          <a:p>
            <a:pPr algn="l">
              <a:spcBef>
                <a:spcPts val="1000"/>
              </a:spcBef>
            </a:pPr>
            <a:r>
              <a:rPr sz="1350" b="0" i="0">
                <a:solidFill>
                  <a:srgbClr val="525252"/>
                </a:solidFill>
                <a:latin typeface="Calibri"/>
              </a:rPr>
              <a:t>They allocate rank from each module's OWN spectrum. They cannot see redundancy that spans channels across a set. We are orthogonal — composable, not competing.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0760" y="1100000"/>
            <a:ext cx="5615000" cy="2300000"/>
          </a:xfrm>
          <a:prstGeom prst="rect">
            <a:avLst/>
          </a:prstGeom>
          <a:solidFill>
            <a:srgbClr val="EC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0760" y="1100000"/>
            <a:ext cx="140000" cy="2300000"/>
          </a:xfrm>
          <a:prstGeom prst="rect">
            <a:avLst/>
          </a:prstGeom>
          <a:solidFill>
            <a:srgbClr val="7A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0760" y="1260000"/>
            <a:ext cx="5095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4FA3"/>
                </a:solidFill>
                <a:latin typeface="Calibri"/>
              </a:rPr>
              <a:t>vs Gator (structural hypergraph)</a:t>
            </a:r>
          </a:p>
          <a:p>
            <a:pPr algn="l">
              <a:spcBef>
                <a:spcPts val="1000"/>
              </a:spcBef>
            </a:pPr>
            <a:r>
              <a:rPr sz="1350" b="0" i="0">
                <a:solidFill>
                  <a:srgbClr val="525252"/>
                </a:solidFill>
                <a:latin typeface="Calibri"/>
              </a:rPr>
              <a:t>Gator's hyperedge = 'must cut together by architecture'. Ours = 'jointly redundant by information'. Same word, different object — we cite and distinguish.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80000"/>
            <a:ext cx="5615000" cy="23000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580000"/>
            <a:ext cx="140000" cy="230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760" y="3740000"/>
            <a:ext cx="5095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300"/>
                </a:solidFill>
                <a:latin typeface="Calibri"/>
              </a:rPr>
              <a:t>vs O-information (set redundancy)</a:t>
            </a:r>
          </a:p>
          <a:p>
            <a:pPr algn="l">
              <a:spcBef>
                <a:spcPts val="1000"/>
              </a:spcBef>
            </a:pPr>
            <a:r>
              <a:rPr sz="1350" b="0" i="0">
                <a:solidFill>
                  <a:srgbClr val="525252"/>
                </a:solidFill>
                <a:latin typeface="Calibri"/>
              </a:rPr>
              <a:t>Measures group synergy/redundancy but only as importance, on tiny nets, no compression method. We turn it into an allocator that beats SVD SOTA on ViT/LLM.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0760" y="3580000"/>
            <a:ext cx="5615000" cy="230000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0760" y="3580000"/>
            <a:ext cx="140000" cy="230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0760" y="3740000"/>
            <a:ext cx="5095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504D"/>
                </a:solidFill>
                <a:latin typeface="Calibri"/>
              </a:rPr>
              <a:t>Caveat we pre-empt</a:t>
            </a:r>
          </a:p>
          <a:p>
            <a:pPr algn="l">
              <a:spcBef>
                <a:spcPts val="1000"/>
              </a:spcBef>
            </a:pPr>
            <a:r>
              <a:rPr sz="1350" b="0" i="0">
                <a:solidFill>
                  <a:srgbClr val="525252"/>
                </a:solidFill>
                <a:latin typeface="Calibri"/>
              </a:rPr>
              <a:t>Low internal rank ≠ unimportant (low-rank heads can be critical). Our signal is RECONSTRUCTIBILITY-FROM-OTHERS, not a head being internally low-rank.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308000"/>
            <a:ext cx="11430000" cy="430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6308000"/>
            <a:ext cx="140000" cy="430000"/>
          </a:xfrm>
          <a:prstGeom prst="rect">
            <a:avLst/>
          </a:prstGeom>
          <a:solidFill>
            <a:srgbClr val="FF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760" y="6363000"/>
            <a:ext cx="109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Novel claim: hyperedge = informational-redundancy set, used as a compression allocator on transformers, beating SVD SOTA.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